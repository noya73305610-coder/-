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a0547799-816d-e7d4-18af-c6a42b83884a}">
          <p14:sldIdLst>
            <p14:sldId id="256"/>
            <p14:sldId id="257"/>
          </p14:sldIdLst>
        </p14:section>
        <p14:section name="플랫폼 이해" id="{7b014b9d-219e-966c-9e78-e726c007618e}">
          <p14:sldIdLst>
            <p14:sldId id="258"/>
            <p14:sldId id="259"/>
          </p14:sldIdLst>
        </p14:section>
        <p14:section name="배달의 돈 흐름" id="{9fcb690d-2734-9f12-517c-a8f98c07fccc}">
          <p14:sldIdLst>
            <p14:sldId id="260"/>
            <p14:sldId id="261"/>
            <p14:sldId id="262"/>
          </p14:sldIdLst>
        </p14:section>
        <p14:section name="독과점 사례" id="{1390e3e3-308f-6cb5-0cd7-3c52cbc49b8a}">
          <p14:sldIdLst>
            <p14:sldId id="263"/>
            <p14:sldId id="264"/>
            <p14:sldId id="265"/>
            <p14:sldId id="266"/>
          </p14:sldIdLst>
        </p14:section>
        <p14:section name="정리와 대응" id="{b050beb3-5d64-e4bb-8b74-46980ffb49bb}">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표지는 바로 넘기기. 다음 장과 합쳐서 40초 정도.
대괄호 부분은 실제 과목명, 조, 이름, 날짜로 바꾸기.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질문만 던지고 넘어가기. 답은 7번 정산 예시에서 공개.
'식당이 받는 돈'과 '식당이 버는 돈'이 다르다는 점만 궁금하게 만들면 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정도.
정의는 한 번 읽고, 표는 거래형과 혁신형 차이만 짚기.
수익 모델(수수료, 광고, 구독, 결제·물류 대가, 직접 판매 차익)은 유형과 따로 봐야 함. 표의 예시도 기능을 설명하려는 것이지, 특정 회사를 한 유형으로 정하는 건 아님.
참고: OECD(2019) 보고서 4장.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정도.
시장집중, 시장지배력, 지배력 남용이 서로 다른 개념이라는 것만 전달하면 됨.
이 틀은 우리 조가 발표용으로 정리한 것이고, 법적인 요건은 사건마다 다름. 11번에서 세 사례를 이 틀에 다시 대입함.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정도.
위 줄은 돈이 오가는 흐름, 아래 줄은 배달이 이뤄지는 흐름. 모든 돈이 한 회사 매출이 된다는 그림은 아님.
식당 정산액도, 배민이 공제한 돈도 그대로 순이익은 아님. 배민 쪽도 라이더 보수, 결제 처리, 운영비가 나감.
라이더 실제 순소득은 공개된 요금만으로는 계산할 수 없음. 2025년 회사 발표의 보수 개편 내용과 지금 실제 수입은 다를 수 있음.
계약·지급 주체는 서비스마다 다름.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정도.
칸을 다 읽을 필요 없음. 중개(수수료)와 직접 판매(매입)의 차이, 배달팁이 누구 매출로 잡히는지만 짚기.
가게배달 중개이용료 6.8%는 부가세 별도. 배송은 점주가 직접 하거나 대행을 씀.
배민배달·가게배달·장보기는 배민 공식 안내로 확인. B마트 직매입 설명은 전자신문 기사(2026.7.) 기준이고, 공식 소개 페이지 본문은 확인 못 함. B마트의 상품별 계약이나 이익률도 확인하지 않았음.
배달팁 귀속은 배민 부가세 신고자료 안내 기준.
입점형 장보기와 B마트 칸의 배달팁 줄은 '음식배달과 같은 방식으로 계산할 수 없다'는 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정도. 2번에서 던진 질문의 답.
계산 순서:
중개이용료 20,000 × 7.8% = 1,560
결제정산수수료 20,000 × 3% = 600
업주 배달비 3,400 (서울 예시)
부가세 (1,560 + 600 + 3,400) × 10% = 556
빠지는 돈 합계 6,116 (30.58%), 식당 정산액 13,884
30.58%는 중개이용료, 결제수수료, 배달비, 부가세를 다 합친 비율이라 '수수료율'과는 다름.
원 자료의 '업주수익'은 순이익으로 오해할 수 있어서 '정산액'으로 바꿔 씀.
결제수수료 3%는 비교자료의 가정이고, 모든 점주에게 지금 적용되는 요율로 확인한 것은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정도.
문제 구조 → 영향 → 진행 과정 순서로 말하고 다음 사례로.
결합 전에 하는 예방적 심사였음. 불법행위로 처벌받은 사건처럼 말하면 틀림.
법적으로는 '합병'이 아니라 주식 인수 방식의 기업결합.
당시 점유율을 말할 거면 2019년 거래금액 기준이라고 밝히기. 지금 점유율이 아님.
매각 완료는 딜리버리히어로 발표로 확인한 내용.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정도.
공정위가 적용한 건 '부당한 고객유인행위'. 시장지배적 지위 남용으로 확정된 사건이 아님.
처음 발표(2024.6.) 때 나온 잠정 과징금과 최종 의결액(1,628억 2,400만 원)은 다름.
소송 상태: 2분기 공시에는 '2026년 9월 심리 예정'으로 적혀 있었음. 9월 이후 기사 검색에서도 본안 판결 소식은 못 찾음. 발표 직전에 한 번 더 확인하고, 확인 못 하면 '2분기 공시 기준 소송 중'이라고 말하기.
참고(보도 기준, 원문 미확인): 법원이 시정명령 효력은 멈췄지만 과징금 집행정지는 기각했다는 보도가 있음. 집행정지는 본안 판결과 별개.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정도.
유럽위원회 과징금은 €2,424,495,000(약 24.2억 유로).
일반법원은 일반검색 시장 효과에 관한 부분은 일부 취소했지만, 비교쇼핑 판단과 과징금은 유지함.
이 사건에 대한 판단임. 모든 자사우대가 자동으로 위법이라는 뜻은 아니고, 다른 구글 사건까지 확정된 것도 아님.
판결문 전문이 아니라 사법재판소 공식 보도자료를 기준으로 정리함.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정도.
세 사례가 같은 '독점'이 아니라 걸린 단계가 다르다는 점이 핵심.
배민-요기요: 결합으로 시장구조가 바뀌기 전에 심사(1단계).
구글 쇼핑: 검색 시장의 지배적 지위(2단계)와 그 지위를 이용한 자사우대(3단계)가 모두 인정됨.
쿠팡: 지배적 지위가 아니라 '부당한 고객유인'이라는 행위(3단계)로 제재됨.
이 배치는 4번 틀에 맞춰 우리 조가 정리한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정도.
네 줄을 다 읽지 말고 두 줄 정도만 골라서 설명.
'플랫폼이 돈을 번다'가 문제가 아니라, 같은 구조가 편익과 위험을 함께 만든다는 점이 포인트.
'교섭력 차이'는 거래 조건이 바뀔 때 입점업체나 라이더가 협상할 힘이 상대적으로 약할 수 있다는 뜻.
일반적으로 이렇게 작동할 수 있다는 정리라서, 특정 기업이 전부 해당한다는 뜻은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정도.
둘 다 효과가 입증된 정책이라기보다 따져 볼 방향이라서, 기대효과와 한계를 같이 말하기.
시간이 남으면: 다른 플랫폼으로 옮기기 어렵게 만드는 제약 점검, 라이더 보수와 계약조건의 설명·협의도 검토할 수 있는 방향.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정도.
결론 문장 → 점검 질문 두 개 → 마무리 질문 순서.
조에서 결론을 다르게 정하면 새 사실은 넣지 말고 문장만 바꾸기.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시간은 여유로 두기.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1051560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10515600" cy="1005840"/>
          </a:xfrm>
          <a:prstGeom prst="rect">
            <a:avLst/>
          </a:prstGeom>
          <a:noFill/>
          <a:ln/>
        </p:spPr>
        <p:txBody>
          <a:bodyPr wrap="square" lIns="0" tIns="0" rIns="0" bIns="0" rtlCol="0" anchor="ctr"/>
          <a:lstStyle/>
          <a:p>
            <a:pPr algn="l" indent="0" marL="0">
              <a:buNone/>
            </a:pPr>
            <a:r>
              <a:rPr lang="en-US" sz="4800" b="1" dirty="0">
                <a:solidFill>
                  <a:schemeClr val="bg1"/>
                </a:solidFill>
              </a:rPr>
              <a:t>플랫폼 독점의 문제</a:t>
            </a:r>
            <a:endParaRPr lang="en-US" sz="4800" dirty="0"/>
          </a:p>
        </p:txBody>
      </p:sp>
      <p:sp>
        <p:nvSpPr>
          <p:cNvPr id="3" name="Text 1"/>
          <p:cNvSpPr txBox="1"/>
          <p:nvPr/>
        </p:nvSpPr>
        <p:spPr>
          <a:xfrm>
            <a:off x="731520" y="685800"/>
            <a:ext cx="5486400" cy="365760"/>
          </a:xfrm>
          <a:prstGeom prst="rect">
            <a:avLst/>
          </a:prstGeom>
          <a:noFill/>
          <a:ln/>
        </p:spPr>
        <p:txBody>
          <a:bodyPr wrap="square" lIns="0" tIns="0" rIns="0" bIns="0" rtlCol="0" anchor="t"/>
          <a:lstStyle/>
          <a:p>
            <a:pPr indent="0" marL="0">
              <a:lnSpc>
                <a:spcPct val="110000"/>
              </a:lnSpc>
              <a:buNone/>
            </a:pPr>
            <a:r>
              <a:rPr lang="en-US" sz="1500" dirty="0">
                <a:solidFill>
                  <a:schemeClr val="accent3"/>
                </a:solidFill>
              </a:rPr>
              <a:t>[과목명] 조별 발표</a:t>
            </a:r>
            <a:endParaRPr lang="en-US" sz="1500" dirty="0"/>
          </a:p>
        </p:txBody>
      </p:sp>
      <p:sp>
        <p:nvSpPr>
          <p:cNvPr id="4" name="Text 2"/>
          <p:cNvSpPr txBox="1"/>
          <p:nvPr/>
        </p:nvSpPr>
        <p:spPr>
          <a:xfrm>
            <a:off x="731520" y="3383280"/>
            <a:ext cx="10058400" cy="457200"/>
          </a:xfrm>
          <a:prstGeom prst="rect">
            <a:avLst/>
          </a:prstGeom>
          <a:noFill/>
          <a:ln/>
        </p:spPr>
        <p:txBody>
          <a:bodyPr wrap="square" lIns="0" tIns="0" rIns="0" bIns="0" rtlCol="0" anchor="t"/>
          <a:lstStyle/>
          <a:p>
            <a:pPr indent="0" marL="0">
              <a:lnSpc>
                <a:spcPct val="110000"/>
              </a:lnSpc>
              <a:buNone/>
            </a:pPr>
            <a:r>
              <a:rPr lang="en-US" sz="2200" dirty="0">
                <a:solidFill>
                  <a:schemeClr val="bg1"/>
                </a:solidFill>
              </a:rPr>
              <a:t>배달앱 정산 구조와 세 가지 사례</a:t>
            </a:r>
            <a:endParaRPr lang="en-US" sz="2200" dirty="0"/>
          </a:p>
        </p:txBody>
      </p:sp>
      <p:sp>
        <p:nvSpPr>
          <p:cNvPr id="5" name="Text 3"/>
          <p:cNvSpPr txBox="1"/>
          <p:nvPr/>
        </p:nvSpPr>
        <p:spPr>
          <a:xfrm>
            <a:off x="731520" y="5440680"/>
            <a:ext cx="5486400" cy="731520"/>
          </a:xfrm>
          <a:prstGeom prst="rect">
            <a:avLst/>
          </a:prstGeom>
          <a:noFill/>
          <a:ln/>
        </p:spPr>
        <p:txBody>
          <a:bodyPr wrap="square" lIns="0" tIns="0" rIns="0" bIns="0" rtlCol="0" anchor="t"/>
          <a:lstStyle/>
          <a:p>
            <a:pPr indent="0" marL="0">
              <a:lnSpc>
                <a:spcPct val="130000"/>
              </a:lnSpc>
              <a:buNone/>
            </a:pPr>
            <a:r>
              <a:rPr lang="en-US" sz="1500" dirty="0">
                <a:solidFill>
                  <a:schemeClr val="accent3"/>
                </a:solidFill>
              </a:rPr>
              <a:t>[○조]   [발표자 이름]</a:t>
            </a:r>
            <a:endParaRPr lang="en-US" sz="1500" dirty="0"/>
          </a:p>
          <a:p>
            <a:pPr indent="0" marL="0">
              <a:lnSpc>
                <a:spcPct val="130000"/>
              </a:lnSpc>
              <a:buNone/>
            </a:pPr>
            <a:r>
              <a:rPr lang="en-US" sz="1500" dirty="0">
                <a:solidFill>
                  <a:schemeClr val="accent3"/>
                </a:solidFill>
              </a:rPr>
              <a:t>[발표일]</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00200"/>
            <a:ext cx="5669280" cy="2468880"/>
          </a:xfrm>
          <a:prstGeom prst="rect">
            <a:avLst/>
          </a:prstGeom>
          <a:noFill/>
          <a:ln/>
        </p:spPr>
        <p:txBody>
          <a:bodyPr wrap="square" lIns="0" tIns="0" rIns="0" bIns="0" rtlCol="0" anchor="t"/>
          <a:lstStyle/>
          <a:p>
            <a:pPr indent="0" marL="0">
              <a:lnSpc>
                <a:spcPct val="115000"/>
              </a:lnSpc>
              <a:buNone/>
            </a:pPr>
            <a:r>
              <a:rPr lang="en-US" sz="3800" b="1" dirty="0">
                <a:solidFill>
                  <a:schemeClr val="tx1"/>
                </a:solidFill>
              </a:rPr>
              <a:t>배달 주문 2만 원,</a:t>
            </a:r>
            <a:endParaRPr lang="en-US" sz="3800" dirty="0"/>
          </a:p>
          <a:p>
            <a:pPr indent="0" marL="0">
              <a:lnSpc>
                <a:spcPct val="115000"/>
              </a:lnSpc>
              <a:buNone/>
            </a:pPr>
            <a:r>
              <a:rPr lang="en-US" sz="3800" b="1" dirty="0">
                <a:solidFill>
                  <a:schemeClr val="tx1"/>
                </a:solidFill>
              </a:rPr>
              <a:t>식당에는 얼마가</a:t>
            </a:r>
            <a:endParaRPr lang="en-US" sz="3800" dirty="0"/>
          </a:p>
          <a:p>
            <a:pPr indent="0" marL="0">
              <a:lnSpc>
                <a:spcPct val="115000"/>
              </a:lnSpc>
              <a:buNone/>
            </a:pPr>
            <a:r>
              <a:rPr lang="en-US" sz="3800" b="1" dirty="0">
                <a:solidFill>
                  <a:schemeClr val="tx1"/>
                </a:solidFill>
              </a:rPr>
              <a:t>들어올까?</a:t>
            </a:r>
            <a:endParaRPr lang="en-US" sz="3800" dirty="0"/>
          </a:p>
        </p:txBody>
      </p:sp>
      <p:sp>
        <p:nvSpPr>
          <p:cNvPr id="3" name="Text 1"/>
          <p:cNvSpPr txBox="1"/>
          <p:nvPr/>
        </p:nvSpPr>
        <p:spPr>
          <a:xfrm>
            <a:off x="548640" y="4343400"/>
            <a:ext cx="5669280" cy="457200"/>
          </a:xfrm>
          <a:prstGeom prst="rect">
            <a:avLst/>
          </a:prstGeom>
          <a:noFill/>
          <a:ln/>
        </p:spPr>
        <p:txBody>
          <a:bodyPr wrap="square" lIns="0" tIns="0" rIns="0" bIns="0" rtlCol="0" anchor="t"/>
          <a:lstStyle/>
          <a:p>
            <a:pPr indent="0" marL="0">
              <a:lnSpc>
                <a:spcPct val="110000"/>
              </a:lnSpc>
              <a:buNone/>
            </a:pPr>
            <a:r>
              <a:rPr lang="en-US" sz="2000" dirty="0">
                <a:solidFill>
                  <a:schemeClr val="accent5"/>
                </a:solidFill>
              </a:rPr>
              <a:t>식당이 받는 돈은 전부 이익일까?</a:t>
            </a:r>
            <a:endParaRPr lang="en-US" sz="2000" dirty="0"/>
          </a:p>
        </p:txBody>
      </p:sp>
      <p:sp>
        <p:nvSpPr>
          <p:cNvPr id="4" name="Shape 2"/>
          <p:cNvSpPr/>
          <p:nvPr/>
        </p:nvSpPr>
        <p:spPr>
          <a:xfrm>
            <a:off x="7086600" y="1783080"/>
            <a:ext cx="4023360" cy="3154680"/>
          </a:xfrm>
          <a:prstGeom prst="rect">
            <a:avLst/>
          </a:prstGeom>
          <a:solidFill>
            <a:schemeClr val="bg1"/>
          </a:solidFill>
          <a:ln w="12700">
            <a:solidFill>
              <a:schemeClr val="accent6"/>
            </a:solidFill>
            <a:prstDash val="solid"/>
          </a:ln>
          <a:effectLst>
            <a:outerShdw sx="100000" sy="100000" kx="0" ky="0" algn="bl" rotWithShape="0" blurRad="101600" dist="38100" dir="5400000">
              <a:srgbClr val="000000">
                <a:alpha val="12000"/>
              </a:srgbClr>
            </a:outerShdw>
          </a:effectLst>
        </p:spPr>
      </p:sp>
      <p:sp>
        <p:nvSpPr>
          <p:cNvPr id="5" name="Text 3"/>
          <p:cNvSpPr txBox="1"/>
          <p:nvPr/>
        </p:nvSpPr>
        <p:spPr>
          <a:xfrm>
            <a:off x="7406640" y="2103120"/>
            <a:ext cx="3383280" cy="411480"/>
          </a:xfrm>
          <a:prstGeom prst="rect">
            <a:avLst/>
          </a:prstGeom>
          <a:noFill/>
          <a:ln/>
        </p:spPr>
        <p:txBody>
          <a:bodyPr wrap="square" lIns="0" tIns="0" rIns="0" bIns="0" rtlCol="0" anchor="t"/>
          <a:lstStyle/>
          <a:p>
            <a:pPr algn="ctr" indent="0" marL="0">
              <a:lnSpc>
                <a:spcPct val="110000"/>
              </a:lnSpc>
              <a:buNone/>
            </a:pPr>
            <a:r>
              <a:rPr lang="en-US" sz="1800" b="1" dirty="0">
                <a:solidFill>
                  <a:schemeClr val="tx1"/>
                </a:solidFill>
              </a:rPr>
              <a:t>주문 내역</a:t>
            </a:r>
            <a:endParaRPr lang="en-US" sz="1800" dirty="0"/>
          </a:p>
        </p:txBody>
      </p:sp>
      <p:sp>
        <p:nvSpPr>
          <p:cNvPr id="6" name="Shape 4"/>
          <p:cNvSpPr/>
          <p:nvPr/>
        </p:nvSpPr>
        <p:spPr>
          <a:xfrm>
            <a:off x="7406640" y="2697480"/>
            <a:ext cx="3383280" cy="0"/>
          </a:xfrm>
          <a:prstGeom prst="line">
            <a:avLst/>
          </a:prstGeom>
          <a:noFill/>
          <a:ln w="12700">
            <a:solidFill>
              <a:schemeClr val="accent5"/>
            </a:solidFill>
            <a:prstDash val="dash"/>
          </a:ln>
        </p:spPr>
      </p:sp>
      <p:sp>
        <p:nvSpPr>
          <p:cNvPr id="7" name="Text 5"/>
          <p:cNvSpPr txBox="1"/>
          <p:nvPr/>
        </p:nvSpPr>
        <p:spPr>
          <a:xfrm>
            <a:off x="7406640" y="2880360"/>
            <a:ext cx="2194560" cy="411480"/>
          </a:xfrm>
          <a:prstGeom prst="rect">
            <a:avLst/>
          </a:prstGeom>
          <a:noFill/>
          <a:ln/>
        </p:spPr>
        <p:txBody>
          <a:bodyPr wrap="square" lIns="0" tIns="0" rIns="0" bIns="0" rtlCol="0" anchor="t"/>
          <a:lstStyle/>
          <a:p>
            <a:pPr indent="0" marL="0">
              <a:lnSpc>
                <a:spcPct val="110000"/>
              </a:lnSpc>
              <a:buNone/>
            </a:pPr>
            <a:r>
              <a:rPr lang="en-US" sz="1700" dirty="0">
                <a:solidFill>
                  <a:schemeClr val="tx1"/>
                </a:solidFill>
              </a:rPr>
              <a:t>음식 주문금액</a:t>
            </a:r>
            <a:endParaRPr lang="en-US" sz="1700" dirty="0"/>
          </a:p>
        </p:txBody>
      </p:sp>
      <p:sp>
        <p:nvSpPr>
          <p:cNvPr id="8" name="Text 6"/>
          <p:cNvSpPr txBox="1"/>
          <p:nvPr/>
        </p:nvSpPr>
        <p:spPr>
          <a:xfrm>
            <a:off x="9098280" y="2880360"/>
            <a:ext cx="1691640" cy="411480"/>
          </a:xfrm>
          <a:prstGeom prst="rect">
            <a:avLst/>
          </a:prstGeom>
          <a:noFill/>
          <a:ln/>
        </p:spPr>
        <p:txBody>
          <a:bodyPr wrap="square" lIns="0" tIns="0" rIns="0" bIns="0" rtlCol="0" anchor="t"/>
          <a:lstStyle/>
          <a:p>
            <a:pPr algn="r" indent="0" marL="0">
              <a:lnSpc>
                <a:spcPct val="110000"/>
              </a:lnSpc>
              <a:buNone/>
            </a:pPr>
            <a:r>
              <a:rPr lang="en-US" sz="1700" b="1" dirty="0">
                <a:solidFill>
                  <a:schemeClr val="tx1"/>
                </a:solidFill>
              </a:rPr>
              <a:t>20,000원</a:t>
            </a:r>
            <a:endParaRPr lang="en-US" sz="1700" dirty="0"/>
          </a:p>
        </p:txBody>
      </p:sp>
      <p:sp>
        <p:nvSpPr>
          <p:cNvPr id="9" name="Text 7"/>
          <p:cNvSpPr txBox="1"/>
          <p:nvPr/>
        </p:nvSpPr>
        <p:spPr>
          <a:xfrm>
            <a:off x="7406640" y="3383280"/>
            <a:ext cx="2194560" cy="411480"/>
          </a:xfrm>
          <a:prstGeom prst="rect">
            <a:avLst/>
          </a:prstGeom>
          <a:noFill/>
          <a:ln/>
        </p:spPr>
        <p:txBody>
          <a:bodyPr wrap="square" lIns="0" tIns="0" rIns="0" bIns="0" rtlCol="0" anchor="t"/>
          <a:lstStyle/>
          <a:p>
            <a:pPr indent="0" marL="0">
              <a:lnSpc>
                <a:spcPct val="110000"/>
              </a:lnSpc>
              <a:buNone/>
            </a:pPr>
            <a:r>
              <a:rPr lang="en-US" sz="1700" dirty="0">
                <a:solidFill>
                  <a:schemeClr val="accent5"/>
                </a:solidFill>
              </a:rPr>
              <a:t>빠지는 돈</a:t>
            </a:r>
            <a:endParaRPr lang="en-US" sz="1700" dirty="0"/>
          </a:p>
        </p:txBody>
      </p:sp>
      <p:sp>
        <p:nvSpPr>
          <p:cNvPr id="10" name="Text 8"/>
          <p:cNvSpPr txBox="1"/>
          <p:nvPr/>
        </p:nvSpPr>
        <p:spPr>
          <a:xfrm>
            <a:off x="9098280" y="3383280"/>
            <a:ext cx="1691640" cy="411480"/>
          </a:xfrm>
          <a:prstGeom prst="rect">
            <a:avLst/>
          </a:prstGeom>
          <a:noFill/>
          <a:ln/>
        </p:spPr>
        <p:txBody>
          <a:bodyPr wrap="square" lIns="0" tIns="0" rIns="0" bIns="0" rtlCol="0" anchor="t"/>
          <a:lstStyle/>
          <a:p>
            <a:pPr algn="r" indent="0" marL="0">
              <a:lnSpc>
                <a:spcPct val="110000"/>
              </a:lnSpc>
              <a:buNone/>
            </a:pPr>
            <a:r>
              <a:rPr lang="en-US" sz="2000" b="1" dirty="0">
                <a:solidFill>
                  <a:schemeClr val="accent2"/>
                </a:solidFill>
              </a:rPr>
              <a:t>?</a:t>
            </a:r>
            <a:endParaRPr lang="en-US" sz="2000" dirty="0"/>
          </a:p>
        </p:txBody>
      </p:sp>
      <p:sp>
        <p:nvSpPr>
          <p:cNvPr id="11" name="Shape 9"/>
          <p:cNvSpPr/>
          <p:nvPr/>
        </p:nvSpPr>
        <p:spPr>
          <a:xfrm>
            <a:off x="7406640" y="3977640"/>
            <a:ext cx="3383280" cy="0"/>
          </a:xfrm>
          <a:prstGeom prst="line">
            <a:avLst/>
          </a:prstGeom>
          <a:noFill/>
          <a:ln w="12700">
            <a:solidFill>
              <a:schemeClr val="accent5"/>
            </a:solidFill>
            <a:prstDash val="dash"/>
          </a:ln>
        </p:spPr>
      </p:sp>
      <p:sp>
        <p:nvSpPr>
          <p:cNvPr id="12" name="Text 10"/>
          <p:cNvSpPr txBox="1"/>
          <p:nvPr/>
        </p:nvSpPr>
        <p:spPr>
          <a:xfrm>
            <a:off x="7406640" y="4160520"/>
            <a:ext cx="2194560" cy="41148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식당 정산액</a:t>
            </a:r>
            <a:endParaRPr lang="en-US" sz="1800" dirty="0"/>
          </a:p>
        </p:txBody>
      </p:sp>
      <p:sp>
        <p:nvSpPr>
          <p:cNvPr id="13" name="Text 11"/>
          <p:cNvSpPr txBox="1"/>
          <p:nvPr/>
        </p:nvSpPr>
        <p:spPr>
          <a:xfrm>
            <a:off x="9098280" y="4160520"/>
            <a:ext cx="1691640" cy="411480"/>
          </a:xfrm>
          <a:prstGeom prst="rect">
            <a:avLst/>
          </a:prstGeom>
          <a:noFill/>
          <a:ln/>
        </p:spPr>
        <p:txBody>
          <a:bodyPr wrap="square" lIns="0" tIns="0" rIns="0" bIns="0" rtlCol="0" anchor="t"/>
          <a:lstStyle/>
          <a:p>
            <a:pPr algn="r" indent="0" marL="0">
              <a:lnSpc>
                <a:spcPct val="110000"/>
              </a:lnSpc>
              <a:buNone/>
            </a:pPr>
            <a:r>
              <a:rPr lang="en-US" sz="2200" b="1" dirty="0">
                <a:solidFill>
                  <a:schemeClr val="accent1"/>
                </a:solidFill>
              </a:rPr>
              <a:t>?</a:t>
            </a:r>
            <a:endParaRPr lang="en-US" sz="2200" dirty="0"/>
          </a:p>
        </p:txBody>
      </p:sp>
      <p:sp>
        <p:nvSpPr>
          <p:cNvPr id="15"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플랫폼이란?</a:t>
            </a:r>
            <a:endParaRPr lang="en-US" sz="2800" dirty="0"/>
          </a:p>
        </p:txBody>
      </p:sp>
      <p:sp>
        <p:nvSpPr>
          <p:cNvPr id="3" name="Shape 1"/>
          <p:cNvSpPr/>
          <p:nvPr/>
        </p:nvSpPr>
        <p:spPr>
          <a:xfrm>
            <a:off x="548640" y="1371600"/>
            <a:ext cx="11094415" cy="1371600"/>
          </a:xfrm>
          <a:prstGeom prst="rect">
            <a:avLst/>
          </a:prstGeom>
          <a:solidFill>
            <a:schemeClr val="bg2"/>
          </a:solidFill>
          <a:ln/>
        </p:spPr>
      </p:sp>
      <p:sp>
        <p:nvSpPr>
          <p:cNvPr id="4" name="Text 2"/>
          <p:cNvSpPr txBox="1"/>
          <p:nvPr/>
        </p:nvSpPr>
        <p:spPr>
          <a:xfrm>
            <a:off x="822960" y="1536192"/>
            <a:ext cx="5486400" cy="274320"/>
          </a:xfrm>
          <a:prstGeom prst="rect">
            <a:avLst/>
          </a:prstGeom>
          <a:noFill/>
          <a:ln/>
        </p:spPr>
        <p:txBody>
          <a:bodyPr wrap="square" lIns="0" tIns="0" rIns="0" bIns="0" rtlCol="0" anchor="t"/>
          <a:lstStyle/>
          <a:p>
            <a:pPr indent="0" marL="0">
              <a:lnSpc>
                <a:spcPct val="110000"/>
              </a:lnSpc>
              <a:buNone/>
            </a:pPr>
            <a:r>
              <a:rPr lang="en-US" sz="1300" b="1" dirty="0">
                <a:solidFill>
                  <a:schemeClr val="accent1"/>
                </a:solidFill>
              </a:rPr>
              <a:t>OECD(2019)의 정의</a:t>
            </a:r>
            <a:endParaRPr lang="en-US" sz="1300" dirty="0"/>
          </a:p>
        </p:txBody>
      </p:sp>
      <p:sp>
        <p:nvSpPr>
          <p:cNvPr id="5" name="Text 3"/>
          <p:cNvSpPr txBox="1"/>
          <p:nvPr/>
        </p:nvSpPr>
        <p:spPr>
          <a:xfrm>
            <a:off x="822960" y="1847088"/>
            <a:ext cx="10545775" cy="777240"/>
          </a:xfrm>
          <a:prstGeom prst="rect">
            <a:avLst/>
          </a:prstGeom>
          <a:noFill/>
          <a:ln/>
        </p:spPr>
        <p:txBody>
          <a:bodyPr wrap="square" lIns="0" tIns="0" rIns="0" bIns="0" rtlCol="0" anchor="t"/>
          <a:lstStyle/>
          <a:p>
            <a:pPr indent="0" marL="0">
              <a:lnSpc>
                <a:spcPct val="120000"/>
              </a:lnSpc>
              <a:buNone/>
            </a:pPr>
            <a:r>
              <a:rPr lang="en-US" sz="1800" dirty="0">
                <a:solidFill>
                  <a:schemeClr val="tx1"/>
                </a:solidFill>
              </a:rPr>
              <a:t>인터넷을 통해, 서로 다르면서도 상호 의존하는 둘 이상의 이용자 집단 사이의 상호작용을 지원하는 서비스</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1463040"/>
                <a:gridCol w="3210458"/>
                <a:gridCol w="3210458"/>
                <a:gridCol w="3210458"/>
              </a:tblGrid>
              <a:tr h="457200">
                <a:tc>
                  <a:txBody>
                    <a:bodyPr/>
                    <a:lstStyle/>
                    <a:p>
                      <a:pPr indent="0" marL="0">
                        <a:buNone/>
                      </a:pP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b="1" dirty="0">
                          <a:solidFill>
                            <a:schemeClr val="tx1"/>
                          </a:solidFill>
                        </a:rPr>
                        <a:t>거래형</a:t>
                      </a:r>
                      <a:endParaRPr lang="en-US" sz="16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tx1"/>
                          </a:solidFill>
                        </a:rPr>
                        <a:t>혁신형</a:t>
                      </a:r>
                      <a:endParaRPr lang="en-US" sz="16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tx1"/>
                          </a:solidFill>
                        </a:rPr>
                        <a:t>두 기능이 겹치는 경우</a:t>
                      </a:r>
                      <a:endParaRPr lang="en-US" sz="16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r>
              <a:tr h="530352">
                <a:tc>
                  <a:txBody>
                    <a:bodyPr/>
                    <a:lstStyle/>
                    <a:p>
                      <a:pPr indent="0" marL="0">
                        <a:buNone/>
                      </a:pPr>
                      <a:r>
                        <a:rPr lang="en-US" sz="1400" b="1" dirty="0">
                          <a:solidFill>
                            <a:schemeClr val="accent5"/>
                          </a:solidFill>
                        </a:rPr>
                        <a:t>하는 일</a:t>
                      </a:r>
                      <a:endParaRPr lang="en-US" sz="14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참가자끼리 찾고 거래하도록 연결</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보완 제품을 만들 기술 기반 제공</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거래 연결과 개발 기반이 함께 작동</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30352">
                <a:tc>
                  <a:txBody>
                    <a:bodyPr/>
                    <a:lstStyle/>
                    <a:p>
                      <a:pPr indent="0" marL="0">
                        <a:buNone/>
                      </a:pPr>
                      <a:r>
                        <a:rPr lang="en-US" sz="1400" b="1" dirty="0">
                          <a:solidFill>
                            <a:schemeClr val="accent5"/>
                          </a:solidFill>
                        </a:rPr>
                        <a:t>예시</a:t>
                      </a:r>
                      <a:endParaRPr lang="en-US" sz="14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배달 주문 중개, 온라인 장터</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운영체제와 개발자 생태계</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앱 개발 생태계 + 앱 유통</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30352">
                <a:tc>
                  <a:txBody>
                    <a:bodyPr/>
                    <a:lstStyle/>
                    <a:p>
                      <a:pPr indent="0" marL="0">
                        <a:buNone/>
                      </a:pPr>
                      <a:r>
                        <a:rPr lang="en-US" sz="1400" b="1" dirty="0">
                          <a:solidFill>
                            <a:schemeClr val="accent5"/>
                          </a:solidFill>
                        </a:rPr>
                        <a:t>수익원</a:t>
                      </a:r>
                      <a:endParaRPr lang="en-US" sz="14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거래 수수료, 광고, 구독</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라이선스, 이용료, 유통 수수료</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한 회사 안에 여러 수익원</a:t>
                      </a:r>
                      <a:endParaRPr lang="en-US" sz="1500" dirty="0"/>
                    </a:p>
                  </a:txBody>
                  <a:tcPr marL="137160" marR="137160"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7" name="Text 4"/>
          <p:cNvSpPr txBox="1"/>
          <p:nvPr/>
        </p:nvSpPr>
        <p:spPr>
          <a:xfrm>
            <a:off x="548640" y="5349240"/>
            <a:ext cx="11094415" cy="365760"/>
          </a:xfrm>
          <a:prstGeom prst="rect">
            <a:avLst/>
          </a:prstGeom>
          <a:noFill/>
          <a:ln/>
        </p:spPr>
        <p:txBody>
          <a:bodyPr wrap="square" lIns="0" tIns="0" rIns="0" bIns="0" rtlCol="0" anchor="t"/>
          <a:lstStyle/>
          <a:p>
            <a:pPr indent="0" marL="0">
              <a:lnSpc>
                <a:spcPct val="110000"/>
              </a:lnSpc>
              <a:buNone/>
            </a:pPr>
            <a:r>
              <a:rPr lang="en-US" sz="1400" dirty="0">
                <a:solidFill>
                  <a:schemeClr val="accent5"/>
                </a:solidFill>
              </a:rPr>
              <a:t>※ 기능을 기준으로 나눈 것이라, 실제로는 한 회사 안에서 기능이 겹칠 수 있음</a:t>
            </a:r>
            <a:endParaRPr lang="en-US" sz="1400" dirty="0"/>
          </a:p>
        </p:txBody>
      </p:sp>
      <p:sp>
        <p:nvSpPr>
          <p:cNvPr id="8" name="Text 5"/>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OECD, An Introduction to Online Platforms and Their Role in the Digital Transformation (2019)</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독점 문제를 보는 세 단계</a:t>
            </a:r>
            <a:endParaRPr lang="en-US" sz="2800" dirty="0"/>
          </a:p>
        </p:txBody>
      </p:sp>
      <p:sp>
        <p:nvSpPr>
          <p:cNvPr id="3" name="Text 1"/>
          <p:cNvSpPr/>
          <p:nvPr/>
        </p:nvSpPr>
        <p:spPr>
          <a:xfrm>
            <a:off x="548640" y="1463040"/>
            <a:ext cx="3776472" cy="777240"/>
          </a:xfrm>
          <a:prstGeom prst="homePlate">
            <a:avLst/>
          </a:prstGeom>
          <a:solidFill>
            <a:schemeClr val="bg2"/>
          </a:solidFill>
          <a:ln/>
        </p:spPr>
        <p:txBody>
          <a:bodyPr wrap="square" lIns="0" tIns="0" rIns="0" bIns="0" rtlCol="0" anchor="ctr"/>
          <a:lstStyle/>
          <a:p>
            <a:pPr algn="ctr" indent="0" marL="0">
              <a:buNone/>
            </a:pPr>
            <a:r>
              <a:rPr lang="en-US" sz="1900" b="1" dirty="0">
                <a:solidFill>
                  <a:schemeClr val="tx1"/>
                </a:solidFill>
              </a:rPr>
              <a:t>1  시장구조</a:t>
            </a:r>
            <a:endParaRPr lang="en-US" sz="1900" dirty="0"/>
          </a:p>
        </p:txBody>
      </p:sp>
      <p:sp>
        <p:nvSpPr>
          <p:cNvPr id="4" name="Text 2"/>
          <p:cNvSpPr/>
          <p:nvPr/>
        </p:nvSpPr>
        <p:spPr>
          <a:xfrm>
            <a:off x="4206240" y="1463040"/>
            <a:ext cx="3776472" cy="777240"/>
          </a:xfrm>
          <a:prstGeom prst="chevron">
            <a:avLst/>
          </a:prstGeom>
          <a:solidFill>
            <a:schemeClr val="accent3"/>
          </a:solidFill>
          <a:ln/>
        </p:spPr>
        <p:txBody>
          <a:bodyPr wrap="square" lIns="0" tIns="0" rIns="0" bIns="0" rtlCol="0" anchor="ctr"/>
          <a:lstStyle/>
          <a:p>
            <a:pPr algn="ctr" indent="0" marL="0">
              <a:buNone/>
            </a:pPr>
            <a:r>
              <a:rPr lang="en-US" sz="1900" b="1" dirty="0">
                <a:solidFill>
                  <a:schemeClr val="tx1"/>
                </a:solidFill>
              </a:rPr>
              <a:t>2  시장지배력</a:t>
            </a:r>
            <a:endParaRPr lang="en-US" sz="1900" dirty="0"/>
          </a:p>
        </p:txBody>
      </p:sp>
      <p:sp>
        <p:nvSpPr>
          <p:cNvPr id="5" name="Text 3"/>
          <p:cNvSpPr/>
          <p:nvPr/>
        </p:nvSpPr>
        <p:spPr>
          <a:xfrm>
            <a:off x="7863840" y="1463040"/>
            <a:ext cx="3776472" cy="777240"/>
          </a:xfrm>
          <a:prstGeom prst="chevron">
            <a:avLst/>
          </a:prstGeom>
          <a:solidFill>
            <a:schemeClr val="accent1"/>
          </a:solidFill>
          <a:ln/>
        </p:spPr>
        <p:txBody>
          <a:bodyPr wrap="square" lIns="0" tIns="0" rIns="0" bIns="0" rtlCol="0" anchor="ctr"/>
          <a:lstStyle/>
          <a:p>
            <a:pPr algn="ctr" indent="0" marL="0">
              <a:buNone/>
            </a:pPr>
            <a:r>
              <a:rPr lang="en-US" sz="1900" b="1" dirty="0">
                <a:solidFill>
                  <a:schemeClr val="bg1"/>
                </a:solidFill>
              </a:rPr>
              <a:t>3  문제 행위와 법적 판단</a:t>
            </a:r>
            <a:endParaRPr lang="en-US" sz="1900" dirty="0"/>
          </a:p>
        </p:txBody>
      </p:sp>
      <p:sp>
        <p:nvSpPr>
          <p:cNvPr id="6" name="Text 4"/>
          <p:cNvSpPr txBox="1"/>
          <p:nvPr/>
        </p:nvSpPr>
        <p:spPr>
          <a:xfrm>
            <a:off x="594360" y="2514600"/>
            <a:ext cx="3429000" cy="320040"/>
          </a:xfrm>
          <a:prstGeom prst="rect">
            <a:avLst/>
          </a:prstGeom>
          <a:noFill/>
          <a:ln/>
        </p:spPr>
        <p:txBody>
          <a:bodyPr wrap="square" lIns="0" tIns="0" rIns="0" bIns="0" rtlCol="0" anchor="t"/>
          <a:lstStyle/>
          <a:p>
            <a:pPr indent="0" marL="0">
              <a:lnSpc>
                <a:spcPct val="110000"/>
              </a:lnSpc>
              <a:buNone/>
            </a:pPr>
            <a:r>
              <a:rPr lang="en-US" sz="1300" dirty="0">
                <a:solidFill>
                  <a:schemeClr val="accent5"/>
                </a:solidFill>
              </a:rPr>
              <a:t>독점, 과점, 집중</a:t>
            </a:r>
            <a:endParaRPr lang="en-US" sz="1300" dirty="0"/>
          </a:p>
        </p:txBody>
      </p:sp>
      <p:sp>
        <p:nvSpPr>
          <p:cNvPr id="7" name="Text 5"/>
          <p:cNvSpPr txBox="1"/>
          <p:nvPr/>
        </p:nvSpPr>
        <p:spPr>
          <a:xfrm>
            <a:off x="594360" y="2852928"/>
            <a:ext cx="3429000" cy="105156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어떤 시장에서 몇 개 사업자에게 거래가 몰리는가?</a:t>
            </a:r>
            <a:endParaRPr lang="en-US" sz="1700" dirty="0"/>
          </a:p>
        </p:txBody>
      </p:sp>
      <p:sp>
        <p:nvSpPr>
          <p:cNvPr id="8" name="Text 6"/>
          <p:cNvSpPr txBox="1"/>
          <p:nvPr/>
        </p:nvSpPr>
        <p:spPr>
          <a:xfrm>
            <a:off x="594360" y="3931920"/>
            <a:ext cx="3429000" cy="685800"/>
          </a:xfrm>
          <a:prstGeom prst="rect">
            <a:avLst/>
          </a:prstGeom>
          <a:noFill/>
          <a:ln/>
        </p:spPr>
        <p:txBody>
          <a:bodyPr wrap="square" lIns="0" tIns="0" rIns="0" bIns="0" rtlCol="0" anchor="t"/>
          <a:lstStyle/>
          <a:p>
            <a:pPr indent="0" marL="0">
              <a:lnSpc>
                <a:spcPct val="110000"/>
              </a:lnSpc>
              <a:buNone/>
            </a:pPr>
            <a:r>
              <a:rPr lang="en-US" sz="1400" dirty="0">
                <a:solidFill>
                  <a:schemeClr val="accent2"/>
                </a:solidFill>
              </a:rPr>
              <a:t>→ 점유율은 시장 범위·지역·연도·산식까지 같이 봐야 함</a:t>
            </a:r>
            <a:endParaRPr lang="en-US" sz="1400" dirty="0"/>
          </a:p>
        </p:txBody>
      </p:sp>
      <p:sp>
        <p:nvSpPr>
          <p:cNvPr id="9" name="Text 7"/>
          <p:cNvSpPr txBox="1"/>
          <p:nvPr/>
        </p:nvSpPr>
        <p:spPr>
          <a:xfrm>
            <a:off x="4251960" y="2514600"/>
            <a:ext cx="3429000" cy="320040"/>
          </a:xfrm>
          <a:prstGeom prst="rect">
            <a:avLst/>
          </a:prstGeom>
          <a:noFill/>
          <a:ln/>
        </p:spPr>
        <p:txBody>
          <a:bodyPr wrap="square" lIns="0" tIns="0" rIns="0" bIns="0" rtlCol="0" anchor="t"/>
          <a:lstStyle/>
          <a:p>
            <a:pPr indent="0" marL="0">
              <a:lnSpc>
                <a:spcPct val="110000"/>
              </a:lnSpc>
              <a:buNone/>
            </a:pPr>
            <a:r>
              <a:rPr lang="en-US" sz="1300" dirty="0">
                <a:solidFill>
                  <a:schemeClr val="accent5"/>
                </a:solidFill>
              </a:rPr>
              <a:t>대안, 교섭력</a:t>
            </a:r>
            <a:endParaRPr lang="en-US" sz="1300" dirty="0"/>
          </a:p>
        </p:txBody>
      </p:sp>
      <p:sp>
        <p:nvSpPr>
          <p:cNvPr id="10" name="Text 8"/>
          <p:cNvSpPr txBox="1"/>
          <p:nvPr/>
        </p:nvSpPr>
        <p:spPr>
          <a:xfrm>
            <a:off x="4251960" y="2852928"/>
            <a:ext cx="3429000" cy="105156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거래 상대가 다른 곳으로 옮기기 어렵고, 조건을 좌우할 힘이 있는가?</a:t>
            </a:r>
            <a:endParaRPr lang="en-US" sz="1700" dirty="0"/>
          </a:p>
        </p:txBody>
      </p:sp>
      <p:sp>
        <p:nvSpPr>
          <p:cNvPr id="11" name="Text 9"/>
          <p:cNvSpPr txBox="1"/>
          <p:nvPr/>
        </p:nvSpPr>
        <p:spPr>
          <a:xfrm>
            <a:off x="4251960" y="3931920"/>
            <a:ext cx="3429000" cy="685800"/>
          </a:xfrm>
          <a:prstGeom prst="rect">
            <a:avLst/>
          </a:prstGeom>
          <a:noFill/>
          <a:ln/>
        </p:spPr>
        <p:txBody>
          <a:bodyPr wrap="square" lIns="0" tIns="0" rIns="0" bIns="0" rtlCol="0" anchor="t"/>
          <a:lstStyle/>
          <a:p>
            <a:pPr indent="0" marL="0">
              <a:lnSpc>
                <a:spcPct val="110000"/>
              </a:lnSpc>
              <a:buNone/>
            </a:pPr>
            <a:r>
              <a:rPr lang="en-US" sz="1400" dirty="0">
                <a:solidFill>
                  <a:schemeClr val="accent2"/>
                </a:solidFill>
              </a:rPr>
              <a:t>→ 덩치(규모)만으로는 설명이 안 됨</a:t>
            </a:r>
            <a:endParaRPr lang="en-US" sz="1400" dirty="0"/>
          </a:p>
        </p:txBody>
      </p:sp>
      <p:sp>
        <p:nvSpPr>
          <p:cNvPr id="12" name="Text 10"/>
          <p:cNvSpPr txBox="1"/>
          <p:nvPr/>
        </p:nvSpPr>
        <p:spPr>
          <a:xfrm>
            <a:off x="7909560" y="2514600"/>
            <a:ext cx="3429000" cy="320040"/>
          </a:xfrm>
          <a:prstGeom prst="rect">
            <a:avLst/>
          </a:prstGeom>
          <a:noFill/>
          <a:ln/>
        </p:spPr>
        <p:txBody>
          <a:bodyPr wrap="square" lIns="0" tIns="0" rIns="0" bIns="0" rtlCol="0" anchor="t"/>
          <a:lstStyle/>
          <a:p>
            <a:pPr indent="0" marL="0">
              <a:lnSpc>
                <a:spcPct val="110000"/>
              </a:lnSpc>
              <a:buNone/>
            </a:pPr>
            <a:r>
              <a:rPr lang="en-US" sz="1300" dirty="0">
                <a:solidFill>
                  <a:schemeClr val="accent5"/>
                </a:solidFill>
              </a:rPr>
              <a:t>행위, 영향, 법적 근거</a:t>
            </a:r>
            <a:endParaRPr lang="en-US" sz="1300" dirty="0"/>
          </a:p>
        </p:txBody>
      </p:sp>
      <p:sp>
        <p:nvSpPr>
          <p:cNvPr id="13" name="Text 11"/>
          <p:cNvSpPr txBox="1"/>
          <p:nvPr/>
        </p:nvSpPr>
        <p:spPr>
          <a:xfrm>
            <a:off x="7909560" y="2852928"/>
            <a:ext cx="3429000" cy="105156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그 힘이나 거래 구조를 이용해 경쟁과 선택을 제한했는가?</a:t>
            </a:r>
            <a:endParaRPr lang="en-US" sz="1700" dirty="0"/>
          </a:p>
        </p:txBody>
      </p:sp>
      <p:sp>
        <p:nvSpPr>
          <p:cNvPr id="14" name="Text 12"/>
          <p:cNvSpPr txBox="1"/>
          <p:nvPr/>
        </p:nvSpPr>
        <p:spPr>
          <a:xfrm>
            <a:off x="7909560" y="3931920"/>
            <a:ext cx="3429000" cy="685800"/>
          </a:xfrm>
          <a:prstGeom prst="rect">
            <a:avLst/>
          </a:prstGeom>
          <a:noFill/>
          <a:ln/>
        </p:spPr>
        <p:txBody>
          <a:bodyPr wrap="square" lIns="0" tIns="0" rIns="0" bIns="0" rtlCol="0" anchor="t"/>
          <a:lstStyle/>
          <a:p>
            <a:pPr indent="0" marL="0">
              <a:lnSpc>
                <a:spcPct val="110000"/>
              </a:lnSpc>
              <a:buNone/>
            </a:pPr>
            <a:r>
              <a:rPr lang="en-US" sz="1400" dirty="0">
                <a:solidFill>
                  <a:schemeClr val="accent2"/>
                </a:solidFill>
              </a:rPr>
              <a:t>→ 제재·불복·확정 여부를 사건마다 따로 확인</a:t>
            </a:r>
            <a:endParaRPr lang="en-US" sz="1400" dirty="0"/>
          </a:p>
        </p:txBody>
      </p:sp>
      <p:sp>
        <p:nvSpPr>
          <p:cNvPr id="15" name="Shape 13"/>
          <p:cNvSpPr/>
          <p:nvPr/>
        </p:nvSpPr>
        <p:spPr>
          <a:xfrm>
            <a:off x="548640" y="4983480"/>
            <a:ext cx="11094415" cy="822960"/>
          </a:xfrm>
          <a:prstGeom prst="rect">
            <a:avLst/>
          </a:prstGeom>
          <a:solidFill>
            <a:schemeClr val="bg2"/>
          </a:solidFill>
          <a:ln/>
        </p:spPr>
      </p:sp>
      <p:sp>
        <p:nvSpPr>
          <p:cNvPr id="16" name="Text 14"/>
          <p:cNvSpPr txBox="1"/>
          <p:nvPr/>
        </p:nvSpPr>
        <p:spPr>
          <a:xfrm>
            <a:off x="868680" y="4983480"/>
            <a:ext cx="10454335" cy="822960"/>
          </a:xfrm>
          <a:prstGeom prst="rect">
            <a:avLst/>
          </a:prstGeom>
          <a:noFill/>
          <a:ln/>
        </p:spPr>
        <p:txBody>
          <a:bodyPr wrap="square" lIns="0" tIns="0" rIns="0" bIns="0" rtlCol="0" anchor="ctr"/>
          <a:lstStyle/>
          <a:p>
            <a:pPr indent="0" marL="0">
              <a:lnSpc>
                <a:spcPct val="110000"/>
              </a:lnSpc>
              <a:buNone/>
            </a:pPr>
            <a:r>
              <a:rPr lang="en-US" sz="2000" b="1" dirty="0">
                <a:solidFill>
                  <a:schemeClr val="tx1"/>
                </a:solidFill>
              </a:rPr>
              <a:t>덩치가 크다는 것과 불법 독점은 따로 따져야 함</a:t>
            </a:r>
            <a:endParaRPr lang="en-US" sz="2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배달 주문 한 건에 얽힌 주체들</a:t>
            </a:r>
            <a:endParaRPr lang="en-US" sz="2800" dirty="0"/>
          </a:p>
        </p:txBody>
      </p:sp>
      <p:sp>
        <p:nvSpPr>
          <p:cNvPr id="3" name="Shape 1"/>
          <p:cNvSpPr/>
          <p:nvPr/>
        </p:nvSpPr>
        <p:spPr>
          <a:xfrm>
            <a:off x="548640" y="1554480"/>
            <a:ext cx="2286000" cy="868680"/>
          </a:xfrm>
          <a:prstGeom prst="rect">
            <a:avLst/>
          </a:prstGeom>
          <a:solidFill>
            <a:schemeClr val="bg2"/>
          </a:solidFill>
          <a:ln/>
        </p:spPr>
      </p:sp>
      <p:sp>
        <p:nvSpPr>
          <p:cNvPr id="4" name="Text 2"/>
          <p:cNvSpPr txBox="1"/>
          <p:nvPr/>
        </p:nvSpPr>
        <p:spPr>
          <a:xfrm>
            <a:off x="548640" y="1554480"/>
            <a:ext cx="2286000" cy="868680"/>
          </a:xfrm>
          <a:prstGeom prst="rect">
            <a:avLst/>
          </a:prstGeom>
          <a:noFill/>
          <a:ln/>
        </p:spPr>
        <p:txBody>
          <a:bodyPr wrap="square" lIns="0" tIns="0" rIns="0" bIns="0" rtlCol="0" anchor="ctr"/>
          <a:lstStyle/>
          <a:p>
            <a:pPr algn="ctr" indent="0" marL="0">
              <a:lnSpc>
                <a:spcPct val="110000"/>
              </a:lnSpc>
              <a:buNone/>
            </a:pPr>
            <a:r>
              <a:rPr lang="en-US" sz="1900" b="1" dirty="0">
                <a:solidFill>
                  <a:schemeClr val="tx1"/>
                </a:solidFill>
              </a:rPr>
              <a:t>소비자</a:t>
            </a:r>
            <a:endParaRPr lang="en-US" sz="1600" dirty="0"/>
          </a:p>
        </p:txBody>
      </p:sp>
      <p:sp>
        <p:nvSpPr>
          <p:cNvPr id="5" name="Shape 3"/>
          <p:cNvSpPr/>
          <p:nvPr/>
        </p:nvSpPr>
        <p:spPr>
          <a:xfrm>
            <a:off x="4709160" y="1554480"/>
            <a:ext cx="2743200" cy="868680"/>
          </a:xfrm>
          <a:prstGeom prst="rect">
            <a:avLst/>
          </a:prstGeom>
          <a:solidFill>
            <a:schemeClr val="accent1"/>
          </a:solidFill>
          <a:ln/>
        </p:spPr>
      </p:sp>
      <p:sp>
        <p:nvSpPr>
          <p:cNvPr id="6" name="Text 4"/>
          <p:cNvSpPr txBox="1"/>
          <p:nvPr/>
        </p:nvSpPr>
        <p:spPr>
          <a:xfrm>
            <a:off x="4709160" y="1554480"/>
            <a:ext cx="2743200" cy="868680"/>
          </a:xfrm>
          <a:prstGeom prst="rect">
            <a:avLst/>
          </a:prstGeom>
          <a:noFill/>
          <a:ln/>
        </p:spPr>
        <p:txBody>
          <a:bodyPr wrap="square" lIns="0" tIns="0" rIns="0" bIns="0" rtlCol="0" anchor="ctr"/>
          <a:lstStyle/>
          <a:p>
            <a:pPr algn="ctr" indent="0" marL="0">
              <a:lnSpc>
                <a:spcPct val="110000"/>
              </a:lnSpc>
              <a:buNone/>
            </a:pPr>
            <a:r>
              <a:rPr lang="en-US" sz="1900" b="1" dirty="0">
                <a:solidFill>
                  <a:schemeClr val="bg1"/>
                </a:solidFill>
              </a:rPr>
              <a:t>배달앱</a:t>
            </a:r>
            <a:endParaRPr lang="en-US" sz="1600" dirty="0"/>
          </a:p>
          <a:p>
            <a:pPr algn="ctr" indent="0" marL="0">
              <a:lnSpc>
                <a:spcPct val="110000"/>
              </a:lnSpc>
              <a:buNone/>
            </a:pPr>
            <a:r>
              <a:rPr lang="en-US" sz="1300" dirty="0">
                <a:solidFill>
                  <a:schemeClr val="bg1"/>
                </a:solidFill>
              </a:rPr>
              <a:t>결제·정산</a:t>
            </a:r>
            <a:endParaRPr lang="en-US" sz="1600" dirty="0"/>
          </a:p>
        </p:txBody>
      </p:sp>
      <p:sp>
        <p:nvSpPr>
          <p:cNvPr id="7" name="Shape 5"/>
          <p:cNvSpPr/>
          <p:nvPr/>
        </p:nvSpPr>
        <p:spPr>
          <a:xfrm>
            <a:off x="9354312" y="1554480"/>
            <a:ext cx="2286000" cy="868680"/>
          </a:xfrm>
          <a:prstGeom prst="rect">
            <a:avLst/>
          </a:prstGeom>
          <a:solidFill>
            <a:schemeClr val="bg2"/>
          </a:solidFill>
          <a:ln/>
        </p:spPr>
      </p:sp>
      <p:sp>
        <p:nvSpPr>
          <p:cNvPr id="8" name="Text 6"/>
          <p:cNvSpPr txBox="1"/>
          <p:nvPr/>
        </p:nvSpPr>
        <p:spPr>
          <a:xfrm>
            <a:off x="9354312" y="1554480"/>
            <a:ext cx="2286000" cy="868680"/>
          </a:xfrm>
          <a:prstGeom prst="rect">
            <a:avLst/>
          </a:prstGeom>
          <a:noFill/>
          <a:ln/>
        </p:spPr>
        <p:txBody>
          <a:bodyPr wrap="square" lIns="0" tIns="0" rIns="0" bIns="0" rtlCol="0" anchor="ctr"/>
          <a:lstStyle/>
          <a:p>
            <a:pPr algn="ctr" indent="0" marL="0">
              <a:lnSpc>
                <a:spcPct val="110000"/>
              </a:lnSpc>
              <a:buNone/>
            </a:pPr>
            <a:r>
              <a:rPr lang="en-US" sz="1900" b="1" dirty="0">
                <a:solidFill>
                  <a:schemeClr val="tx1"/>
                </a:solidFill>
              </a:rPr>
              <a:t>식당 / 입점 마트</a:t>
            </a:r>
            <a:endParaRPr lang="en-US" sz="1600" dirty="0"/>
          </a:p>
          <a:p>
            <a:pPr algn="ctr" indent="0" marL="0">
              <a:lnSpc>
                <a:spcPct val="110000"/>
              </a:lnSpc>
              <a:buNone/>
            </a:pPr>
            <a:r>
              <a:rPr lang="en-US" sz="1300" dirty="0">
                <a:solidFill>
                  <a:schemeClr val="tx1"/>
                </a:solidFill>
              </a:rPr>
              <a:t>음식은 식당, 장보기는 마트</a:t>
            </a:r>
            <a:endParaRPr lang="en-US" sz="1600" dirty="0"/>
          </a:p>
        </p:txBody>
      </p:sp>
      <p:sp>
        <p:nvSpPr>
          <p:cNvPr id="9" name="Shape 7"/>
          <p:cNvSpPr/>
          <p:nvPr/>
        </p:nvSpPr>
        <p:spPr>
          <a:xfrm>
            <a:off x="2880360" y="1988820"/>
            <a:ext cx="1783080" cy="0"/>
          </a:xfrm>
          <a:prstGeom prst="line">
            <a:avLst/>
          </a:prstGeom>
          <a:noFill/>
          <a:ln w="22225">
            <a:solidFill>
              <a:schemeClr val="accent5"/>
            </a:solidFill>
            <a:prstDash val="solid"/>
            <a:tailEnd type="triangle"/>
          </a:ln>
        </p:spPr>
      </p:sp>
      <p:sp>
        <p:nvSpPr>
          <p:cNvPr id="10" name="Text 8"/>
          <p:cNvSpPr txBox="1"/>
          <p:nvPr/>
        </p:nvSpPr>
        <p:spPr>
          <a:xfrm>
            <a:off x="2880360" y="1527048"/>
            <a:ext cx="1783080" cy="365760"/>
          </a:xfrm>
          <a:prstGeom prst="rect">
            <a:avLst/>
          </a:prstGeom>
          <a:noFill/>
          <a:ln/>
        </p:spPr>
        <p:txBody>
          <a:bodyPr wrap="square" lIns="0" tIns="0" rIns="0" bIns="0" rtlCol="0" anchor="t"/>
          <a:lstStyle/>
          <a:p>
            <a:pPr algn="ctr" indent="0" marL="0">
              <a:lnSpc>
                <a:spcPct val="110000"/>
              </a:lnSpc>
              <a:buNone/>
            </a:pPr>
            <a:r>
              <a:rPr lang="en-US" sz="1300" dirty="0">
                <a:solidFill>
                  <a:schemeClr val="accent5"/>
                </a:solidFill>
              </a:rPr>
              <a:t>주문·결제</a:t>
            </a:r>
            <a:endParaRPr lang="en-US" sz="1300" dirty="0"/>
          </a:p>
        </p:txBody>
      </p:sp>
      <p:sp>
        <p:nvSpPr>
          <p:cNvPr id="11" name="Shape 9"/>
          <p:cNvSpPr/>
          <p:nvPr/>
        </p:nvSpPr>
        <p:spPr>
          <a:xfrm>
            <a:off x="7498080" y="1988820"/>
            <a:ext cx="1810512" cy="0"/>
          </a:xfrm>
          <a:prstGeom prst="line">
            <a:avLst/>
          </a:prstGeom>
          <a:noFill/>
          <a:ln w="22225">
            <a:solidFill>
              <a:schemeClr val="accent5"/>
            </a:solidFill>
            <a:prstDash val="solid"/>
            <a:tailEnd type="triangle"/>
          </a:ln>
        </p:spPr>
      </p:sp>
      <p:sp>
        <p:nvSpPr>
          <p:cNvPr id="12" name="Text 10"/>
          <p:cNvSpPr txBox="1"/>
          <p:nvPr/>
        </p:nvSpPr>
        <p:spPr>
          <a:xfrm>
            <a:off x="7498080" y="1527048"/>
            <a:ext cx="1810512" cy="365760"/>
          </a:xfrm>
          <a:prstGeom prst="rect">
            <a:avLst/>
          </a:prstGeom>
          <a:noFill/>
          <a:ln/>
        </p:spPr>
        <p:txBody>
          <a:bodyPr wrap="square" lIns="0" tIns="0" rIns="0" bIns="0" rtlCol="0" anchor="t"/>
          <a:lstStyle/>
          <a:p>
            <a:pPr algn="ctr" indent="0" marL="0">
              <a:lnSpc>
                <a:spcPct val="110000"/>
              </a:lnSpc>
              <a:buNone/>
            </a:pPr>
            <a:r>
              <a:rPr lang="en-US" sz="1300" dirty="0">
                <a:solidFill>
                  <a:schemeClr val="accent5"/>
                </a:solidFill>
              </a:rPr>
              <a:t>공제 후 정산</a:t>
            </a:r>
            <a:endParaRPr lang="en-US" sz="1300" dirty="0"/>
          </a:p>
        </p:txBody>
      </p:sp>
      <p:sp>
        <p:nvSpPr>
          <p:cNvPr id="13" name="Shape 11"/>
          <p:cNvSpPr/>
          <p:nvPr/>
        </p:nvSpPr>
        <p:spPr>
          <a:xfrm>
            <a:off x="4709160" y="2926080"/>
            <a:ext cx="2743200" cy="777240"/>
          </a:xfrm>
          <a:prstGeom prst="rect">
            <a:avLst/>
          </a:prstGeom>
          <a:solidFill>
            <a:schemeClr val="bg2"/>
          </a:solidFill>
          <a:ln/>
        </p:spPr>
      </p:sp>
      <p:sp>
        <p:nvSpPr>
          <p:cNvPr id="14" name="Text 12"/>
          <p:cNvSpPr txBox="1"/>
          <p:nvPr/>
        </p:nvSpPr>
        <p:spPr>
          <a:xfrm>
            <a:off x="4709160" y="2926080"/>
            <a:ext cx="2743200" cy="777240"/>
          </a:xfrm>
          <a:prstGeom prst="rect">
            <a:avLst/>
          </a:prstGeom>
          <a:noFill/>
          <a:ln/>
        </p:spPr>
        <p:txBody>
          <a:bodyPr wrap="square" lIns="0" tIns="0" rIns="0" bIns="0" rtlCol="0" anchor="ctr"/>
          <a:lstStyle/>
          <a:p>
            <a:pPr algn="ctr" indent="0" marL="0">
              <a:lnSpc>
                <a:spcPct val="110000"/>
              </a:lnSpc>
              <a:buNone/>
            </a:pPr>
            <a:r>
              <a:rPr lang="en-US" sz="1900" b="1" dirty="0">
                <a:solidFill>
                  <a:schemeClr val="tx1"/>
                </a:solidFill>
              </a:rPr>
              <a:t>배달 운영 주체</a:t>
            </a:r>
            <a:endParaRPr lang="en-US" sz="1600" dirty="0"/>
          </a:p>
        </p:txBody>
      </p:sp>
      <p:sp>
        <p:nvSpPr>
          <p:cNvPr id="15" name="Shape 13"/>
          <p:cNvSpPr/>
          <p:nvPr/>
        </p:nvSpPr>
        <p:spPr>
          <a:xfrm>
            <a:off x="9354312" y="2926080"/>
            <a:ext cx="2286000" cy="777240"/>
          </a:xfrm>
          <a:prstGeom prst="rect">
            <a:avLst/>
          </a:prstGeom>
          <a:solidFill>
            <a:schemeClr val="bg2"/>
          </a:solidFill>
          <a:ln/>
        </p:spPr>
      </p:sp>
      <p:sp>
        <p:nvSpPr>
          <p:cNvPr id="16" name="Text 14"/>
          <p:cNvSpPr txBox="1"/>
          <p:nvPr/>
        </p:nvSpPr>
        <p:spPr>
          <a:xfrm>
            <a:off x="9354312" y="2926080"/>
            <a:ext cx="2286000" cy="777240"/>
          </a:xfrm>
          <a:prstGeom prst="rect">
            <a:avLst/>
          </a:prstGeom>
          <a:noFill/>
          <a:ln/>
        </p:spPr>
        <p:txBody>
          <a:bodyPr wrap="square" lIns="0" tIns="0" rIns="0" bIns="0" rtlCol="0" anchor="ctr"/>
          <a:lstStyle/>
          <a:p>
            <a:pPr algn="ctr" indent="0" marL="0">
              <a:lnSpc>
                <a:spcPct val="110000"/>
              </a:lnSpc>
              <a:buNone/>
            </a:pPr>
            <a:r>
              <a:rPr lang="en-US" sz="1900" b="1" dirty="0">
                <a:solidFill>
                  <a:schemeClr val="tx1"/>
                </a:solidFill>
              </a:rPr>
              <a:t>라이더</a:t>
            </a:r>
            <a:endParaRPr lang="en-US" sz="1600" dirty="0"/>
          </a:p>
        </p:txBody>
      </p:sp>
      <p:sp>
        <p:nvSpPr>
          <p:cNvPr id="17" name="Shape 15"/>
          <p:cNvSpPr/>
          <p:nvPr/>
        </p:nvSpPr>
        <p:spPr>
          <a:xfrm>
            <a:off x="7498080" y="3314700"/>
            <a:ext cx="1810512" cy="0"/>
          </a:xfrm>
          <a:prstGeom prst="line">
            <a:avLst/>
          </a:prstGeom>
          <a:noFill/>
          <a:ln w="22225">
            <a:solidFill>
              <a:schemeClr val="accent5"/>
            </a:solidFill>
            <a:prstDash val="solid"/>
            <a:tailEnd type="triangle"/>
          </a:ln>
        </p:spPr>
      </p:sp>
      <p:sp>
        <p:nvSpPr>
          <p:cNvPr id="18" name="Text 16"/>
          <p:cNvSpPr txBox="1"/>
          <p:nvPr/>
        </p:nvSpPr>
        <p:spPr>
          <a:xfrm>
            <a:off x="7498080" y="2606040"/>
            <a:ext cx="1810512" cy="594360"/>
          </a:xfrm>
          <a:prstGeom prst="rect">
            <a:avLst/>
          </a:prstGeom>
          <a:noFill/>
          <a:ln/>
        </p:spPr>
        <p:txBody>
          <a:bodyPr wrap="square" lIns="0" tIns="0" rIns="0" bIns="0" rtlCol="0" anchor="b"/>
          <a:lstStyle/>
          <a:p>
            <a:pPr algn="ctr" indent="0" marL="0">
              <a:lnSpc>
                <a:spcPct val="110000"/>
              </a:lnSpc>
              <a:buNone/>
            </a:pPr>
            <a:r>
              <a:rPr lang="en-US" sz="1250" dirty="0">
                <a:solidFill>
                  <a:schemeClr val="accent5"/>
                </a:solidFill>
              </a:rPr>
              <a:t>조건별 배달 보수</a:t>
            </a:r>
            <a:endParaRPr lang="en-US" sz="1250" dirty="0"/>
          </a:p>
          <a:p>
            <a:pPr algn="ctr" indent="0" marL="0">
              <a:lnSpc>
                <a:spcPct val="110000"/>
              </a:lnSpc>
              <a:buNone/>
            </a:pPr>
            <a:r>
              <a:rPr lang="en-US" sz="1250" dirty="0">
                <a:solidFill>
                  <a:schemeClr val="accent5"/>
                </a:solidFill>
              </a:rPr>
              <a:t>(배달팁과는 별개)</a:t>
            </a:r>
            <a:endParaRPr lang="en-US" sz="1250" dirty="0"/>
          </a:p>
        </p:txBody>
      </p:sp>
      <p:sp>
        <p:nvSpPr>
          <p:cNvPr id="19" name="Text 17"/>
          <p:cNvSpPr txBox="1"/>
          <p:nvPr/>
        </p:nvSpPr>
        <p:spPr>
          <a:xfrm>
            <a:off x="548640" y="2926080"/>
            <a:ext cx="3977640" cy="777240"/>
          </a:xfrm>
          <a:prstGeom prst="rect">
            <a:avLst/>
          </a:prstGeom>
          <a:noFill/>
          <a:ln/>
        </p:spPr>
        <p:txBody>
          <a:bodyPr wrap="square" lIns="0" tIns="0" rIns="0" bIns="0" rtlCol="0" anchor="ctr"/>
          <a:lstStyle/>
          <a:p>
            <a:pPr algn="r" indent="0" marL="0">
              <a:lnSpc>
                <a:spcPct val="110000"/>
              </a:lnSpc>
              <a:buNone/>
            </a:pPr>
            <a:r>
              <a:rPr lang="en-US" sz="1300" dirty="0">
                <a:solidFill>
                  <a:schemeClr val="accent5"/>
                </a:solidFill>
              </a:rPr>
              <a:t>배민배달은 배민 측,</a:t>
            </a:r>
            <a:endParaRPr lang="en-US" sz="1300" dirty="0"/>
          </a:p>
          <a:p>
            <a:pPr algn="r" indent="0" marL="0">
              <a:lnSpc>
                <a:spcPct val="110000"/>
              </a:lnSpc>
              <a:buNone/>
            </a:pPr>
            <a:r>
              <a:rPr lang="en-US" sz="1300" dirty="0">
                <a:solidFill>
                  <a:schemeClr val="accent5"/>
                </a:solidFill>
              </a:rPr>
              <a:t>가게배달은 식당이나 대행업체</a:t>
            </a:r>
            <a:endParaRPr lang="en-US" sz="1300" dirty="0"/>
          </a:p>
        </p:txBody>
      </p:sp>
      <p:sp>
        <p:nvSpPr>
          <p:cNvPr id="20" name="Text 18"/>
          <p:cNvSpPr txBox="1"/>
          <p:nvPr/>
        </p:nvSpPr>
        <p:spPr>
          <a:xfrm>
            <a:off x="548640" y="4297680"/>
            <a:ext cx="5486400" cy="365760"/>
          </a:xfrm>
          <a:prstGeom prst="rect">
            <a:avLst/>
          </a:prstGeom>
          <a:noFill/>
          <a:ln/>
        </p:spPr>
        <p:txBody>
          <a:bodyPr wrap="square" lIns="0" tIns="0" rIns="0" bIns="0" rtlCol="0" anchor="t"/>
          <a:lstStyle/>
          <a:p>
            <a:pPr indent="0" marL="0">
              <a:lnSpc>
                <a:spcPct val="110000"/>
              </a:lnSpc>
              <a:buNone/>
            </a:pPr>
            <a:r>
              <a:rPr lang="en-US" sz="1600" b="1" dirty="0">
                <a:solidFill>
                  <a:schemeClr val="tx1"/>
                </a:solidFill>
              </a:rPr>
              <a:t>각자 따로 부담하는 비용</a:t>
            </a:r>
            <a:endParaRPr lang="en-US" sz="1600" dirty="0"/>
          </a:p>
        </p:txBody>
      </p:sp>
      <p:sp>
        <p:nvSpPr>
          <p:cNvPr id="21" name="Shape 19"/>
          <p:cNvSpPr/>
          <p:nvPr/>
        </p:nvSpPr>
        <p:spPr>
          <a:xfrm>
            <a:off x="548640" y="4709160"/>
            <a:ext cx="2636444" cy="1188720"/>
          </a:xfrm>
          <a:prstGeom prst="rect">
            <a:avLst/>
          </a:prstGeom>
          <a:solidFill>
            <a:schemeClr val="bg2"/>
          </a:solidFill>
          <a:ln/>
        </p:spPr>
      </p:sp>
      <p:sp>
        <p:nvSpPr>
          <p:cNvPr id="22" name="Text 20"/>
          <p:cNvSpPr txBox="1"/>
          <p:nvPr/>
        </p:nvSpPr>
        <p:spPr>
          <a:xfrm>
            <a:off x="731520" y="4818888"/>
            <a:ext cx="2270684" cy="1005840"/>
          </a:xfrm>
          <a:prstGeom prst="rect">
            <a:avLst/>
          </a:prstGeom>
          <a:noFill/>
          <a:ln/>
        </p:spPr>
        <p:txBody>
          <a:bodyPr wrap="square" lIns="0" tIns="0" rIns="0" bIns="0" rtlCol="0" anchor="t"/>
          <a:lstStyle/>
          <a:p>
            <a:pPr indent="0" marL="0">
              <a:lnSpc>
                <a:spcPct val="115000"/>
              </a:lnSpc>
              <a:buNone/>
            </a:pPr>
            <a:r>
              <a:rPr lang="en-US" sz="1500" b="1" dirty="0">
                <a:solidFill>
                  <a:schemeClr val="tx1"/>
                </a:solidFill>
              </a:rPr>
              <a:t>소비자</a:t>
            </a:r>
            <a:endParaRPr lang="en-US" sz="1600" dirty="0"/>
          </a:p>
          <a:p>
            <a:pPr indent="0" marL="0">
              <a:lnSpc>
                <a:spcPct val="115000"/>
              </a:lnSpc>
              <a:buNone/>
            </a:pPr>
            <a:r>
              <a:rPr lang="en-US" sz="1350" dirty="0">
                <a:solidFill>
                  <a:schemeClr val="tx1"/>
                </a:solidFill>
              </a:rPr>
              <a:t>음식값 외 배달팁, 구독료(있을 때)</a:t>
            </a:r>
            <a:endParaRPr lang="en-US" sz="1600" dirty="0"/>
          </a:p>
        </p:txBody>
      </p:sp>
      <p:sp>
        <p:nvSpPr>
          <p:cNvPr id="23" name="Shape 21"/>
          <p:cNvSpPr/>
          <p:nvPr/>
        </p:nvSpPr>
        <p:spPr>
          <a:xfrm>
            <a:off x="3367964" y="4709160"/>
            <a:ext cx="2636444" cy="1188720"/>
          </a:xfrm>
          <a:prstGeom prst="rect">
            <a:avLst/>
          </a:prstGeom>
          <a:solidFill>
            <a:schemeClr val="bg2"/>
          </a:solidFill>
          <a:ln/>
        </p:spPr>
      </p:sp>
      <p:sp>
        <p:nvSpPr>
          <p:cNvPr id="24" name="Text 22"/>
          <p:cNvSpPr txBox="1"/>
          <p:nvPr/>
        </p:nvSpPr>
        <p:spPr>
          <a:xfrm>
            <a:off x="3550844" y="4818888"/>
            <a:ext cx="2270684" cy="1005840"/>
          </a:xfrm>
          <a:prstGeom prst="rect">
            <a:avLst/>
          </a:prstGeom>
          <a:noFill/>
          <a:ln/>
        </p:spPr>
        <p:txBody>
          <a:bodyPr wrap="square" lIns="0" tIns="0" rIns="0" bIns="0" rtlCol="0" anchor="t"/>
          <a:lstStyle/>
          <a:p>
            <a:pPr indent="0" marL="0">
              <a:lnSpc>
                <a:spcPct val="115000"/>
              </a:lnSpc>
              <a:buNone/>
            </a:pPr>
            <a:r>
              <a:rPr lang="en-US" sz="1500" b="1" dirty="0">
                <a:solidFill>
                  <a:schemeClr val="tx1"/>
                </a:solidFill>
              </a:rPr>
              <a:t>식당 · 입점 마트</a:t>
            </a:r>
            <a:endParaRPr lang="en-US" sz="1600" dirty="0"/>
          </a:p>
          <a:p>
            <a:pPr indent="0" marL="0">
              <a:lnSpc>
                <a:spcPct val="115000"/>
              </a:lnSpc>
              <a:buNone/>
            </a:pPr>
            <a:r>
              <a:rPr lang="en-US" sz="1350" dirty="0">
                <a:solidFill>
                  <a:schemeClr val="tx1"/>
                </a:solidFill>
              </a:rPr>
              <a:t>식재료, 포장, 인건비, 임차료</a:t>
            </a:r>
            <a:endParaRPr lang="en-US" sz="1600" dirty="0"/>
          </a:p>
        </p:txBody>
      </p:sp>
      <p:sp>
        <p:nvSpPr>
          <p:cNvPr id="25" name="Shape 23"/>
          <p:cNvSpPr/>
          <p:nvPr/>
        </p:nvSpPr>
        <p:spPr>
          <a:xfrm>
            <a:off x="6187288" y="4709160"/>
            <a:ext cx="2636444" cy="1188720"/>
          </a:xfrm>
          <a:prstGeom prst="rect">
            <a:avLst/>
          </a:prstGeom>
          <a:solidFill>
            <a:schemeClr val="bg2"/>
          </a:solidFill>
          <a:ln/>
        </p:spPr>
      </p:sp>
      <p:sp>
        <p:nvSpPr>
          <p:cNvPr id="26" name="Text 24"/>
          <p:cNvSpPr txBox="1"/>
          <p:nvPr/>
        </p:nvSpPr>
        <p:spPr>
          <a:xfrm>
            <a:off x="6370168" y="4818888"/>
            <a:ext cx="2270684" cy="1005840"/>
          </a:xfrm>
          <a:prstGeom prst="rect">
            <a:avLst/>
          </a:prstGeom>
          <a:noFill/>
          <a:ln/>
        </p:spPr>
        <p:txBody>
          <a:bodyPr wrap="square" lIns="0" tIns="0" rIns="0" bIns="0" rtlCol="0" anchor="t"/>
          <a:lstStyle/>
          <a:p>
            <a:pPr indent="0" marL="0">
              <a:lnSpc>
                <a:spcPct val="115000"/>
              </a:lnSpc>
              <a:buNone/>
            </a:pPr>
            <a:r>
              <a:rPr lang="en-US" sz="1500" b="1" dirty="0">
                <a:solidFill>
                  <a:schemeClr val="tx1"/>
                </a:solidFill>
              </a:rPr>
              <a:t>라이더</a:t>
            </a:r>
            <a:endParaRPr lang="en-US" sz="1600" dirty="0"/>
          </a:p>
          <a:p>
            <a:pPr indent="0" marL="0">
              <a:lnSpc>
                <a:spcPct val="115000"/>
              </a:lnSpc>
              <a:buNone/>
            </a:pPr>
            <a:r>
              <a:rPr lang="en-US" sz="1350" dirty="0">
                <a:solidFill>
                  <a:schemeClr val="tx1"/>
                </a:solidFill>
              </a:rPr>
              <a:t>이동수단, 연료, 보험, 정비</a:t>
            </a:r>
            <a:endParaRPr lang="en-US" sz="1600" dirty="0"/>
          </a:p>
        </p:txBody>
      </p:sp>
      <p:sp>
        <p:nvSpPr>
          <p:cNvPr id="27" name="Shape 25"/>
          <p:cNvSpPr/>
          <p:nvPr/>
        </p:nvSpPr>
        <p:spPr>
          <a:xfrm>
            <a:off x="9006611" y="4709160"/>
            <a:ext cx="2636444" cy="1188720"/>
          </a:xfrm>
          <a:prstGeom prst="rect">
            <a:avLst/>
          </a:prstGeom>
          <a:solidFill>
            <a:schemeClr val="bg2"/>
          </a:solidFill>
          <a:ln/>
        </p:spPr>
      </p:sp>
      <p:sp>
        <p:nvSpPr>
          <p:cNvPr id="28" name="Text 26"/>
          <p:cNvSpPr txBox="1"/>
          <p:nvPr/>
        </p:nvSpPr>
        <p:spPr>
          <a:xfrm>
            <a:off x="9189491" y="4818888"/>
            <a:ext cx="2270684" cy="1005840"/>
          </a:xfrm>
          <a:prstGeom prst="rect">
            <a:avLst/>
          </a:prstGeom>
          <a:noFill/>
          <a:ln/>
        </p:spPr>
        <p:txBody>
          <a:bodyPr wrap="square" lIns="0" tIns="0" rIns="0" bIns="0" rtlCol="0" anchor="t"/>
          <a:lstStyle/>
          <a:p>
            <a:pPr indent="0" marL="0">
              <a:lnSpc>
                <a:spcPct val="115000"/>
              </a:lnSpc>
              <a:buNone/>
            </a:pPr>
            <a:r>
              <a:rPr lang="en-US" sz="1500" b="1" dirty="0">
                <a:solidFill>
                  <a:schemeClr val="tx1"/>
                </a:solidFill>
              </a:rPr>
              <a:t>배달앱 · 운영 주체</a:t>
            </a:r>
            <a:endParaRPr lang="en-US" sz="1600" dirty="0"/>
          </a:p>
          <a:p>
            <a:pPr indent="0" marL="0">
              <a:lnSpc>
                <a:spcPct val="115000"/>
              </a:lnSpc>
              <a:buNone/>
            </a:pPr>
            <a:r>
              <a:rPr lang="en-US" sz="1350" dirty="0">
                <a:solidFill>
                  <a:schemeClr val="tx1"/>
                </a:solidFill>
              </a:rPr>
              <a:t>라이더 보수, 결제 처리, 운영비</a:t>
            </a:r>
            <a:endParaRPr lang="en-US" sz="1600" dirty="0"/>
          </a:p>
        </p:txBody>
      </p:sp>
      <p:sp>
        <p:nvSpPr>
          <p:cNvPr id="29" name="Text 27"/>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배민 공식 안내(정산, 배민스토어), 우아한청년들 발표(2025.1.24.), 배민커넥트 안내</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배달 방식별 돈의 흐름</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08760"/>
                <a:gridCol w="2395728"/>
                <a:gridCol w="2395728"/>
                <a:gridCol w="2395728"/>
                <a:gridCol w="2398471"/>
              </a:tblGrid>
              <a:tr h="411480">
                <a:tc>
                  <a:txBody>
                    <a:bodyPr/>
                    <a:lstStyle/>
                    <a:p>
                      <a:pPr indent="0" marL="0">
                        <a:buNone/>
                      </a:pP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gridSpan="3">
                  <a:txBody>
                    <a:bodyPr/>
                    <a:lstStyle/>
                    <a:p>
                      <a:pPr algn="ctr" indent="0" marL="0">
                        <a:buNone/>
                      </a:pPr>
                      <a:r>
                        <a:rPr lang="en-US" sz="1400" b="1" dirty="0">
                          <a:solidFill>
                            <a:schemeClr val="bg1"/>
                          </a:solidFill>
                        </a:rPr>
                        <a:t>중개: 연결하고 수수료를 받음</a:t>
                      </a:r>
                      <a:endParaRPr lang="en-US" sz="14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hMerge="1">
                  <a:tcPr/>
                </a:tc>
                <a:tc hMerge="1">
                  <a:tcPr/>
                </a:tc>
                <a:tc>
                  <a:txBody>
                    <a:bodyPr/>
                    <a:lstStyle/>
                    <a:p>
                      <a:pPr algn="ctr" indent="0" marL="0">
                        <a:buNone/>
                      </a:pPr>
                      <a:r>
                        <a:rPr lang="en-US" sz="1400" b="1" dirty="0">
                          <a:solidFill>
                            <a:schemeClr val="bg1"/>
                          </a:solidFill>
                        </a:rPr>
                        <a:t>직접 판매: 사들여서 판매</a:t>
                      </a:r>
                      <a:endParaRPr lang="en-US" sz="14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2"/>
                    </a:solidFill>
                  </a:tcPr>
                </a:tc>
              </a:tr>
              <a:tr h="502920">
                <a:tc>
                  <a:txBody>
                    <a:bodyPr/>
                    <a:lstStyle/>
                    <a:p>
                      <a:pPr indent="0" marL="0">
                        <a:buNone/>
                      </a:pP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700" b="1" dirty="0">
                          <a:solidFill>
                            <a:schemeClr val="tx1"/>
                          </a:solidFill>
                        </a:rPr>
                        <a:t>배민배달</a:t>
                      </a:r>
                      <a:endParaRPr lang="en-US" sz="17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가게배달</a:t>
                      </a:r>
                      <a:endParaRPr lang="en-US" sz="17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입점형 장보기</a:t>
                      </a:r>
                      <a:endParaRPr lang="en-US" sz="17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tx1"/>
                          </a:solidFill>
                        </a:rPr>
                        <a:t>B마트</a:t>
                      </a:r>
                      <a:endParaRPr lang="en-US" sz="17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accent5"/>
                          </a:solidFill>
                        </a:rPr>
                        <a:t>구조</a:t>
                      </a:r>
                      <a:endParaRPr lang="en-US" sz="14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주문 중개 + 배달 운영</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식당이 직접 배달하거나 대행 이용</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배민스토어에서 마트 상품 판매 중개</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상품을 사들여 보관·배송</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777240">
                <a:tc>
                  <a:txBody>
                    <a:bodyPr/>
                    <a:lstStyle/>
                    <a:p>
                      <a:pPr indent="0" marL="0">
                        <a:buNone/>
                      </a:pPr>
                      <a:r>
                        <a:rPr lang="en-US" sz="1400" b="1" dirty="0">
                          <a:solidFill>
                            <a:schemeClr val="accent5"/>
                          </a:solidFill>
                        </a:rPr>
                        <a:t>돈을 버는 방식</a:t>
                      </a:r>
                      <a:endParaRPr lang="en-US" sz="14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중개이용료 + 업주 배달비</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중개이용료 6.8%</a:t>
                      </a:r>
                      <a:endParaRPr lang="en-US" sz="1500" dirty="0"/>
                    </a:p>
                    <a:p>
                      <a:pPr indent="0" marL="0">
                        <a:buNone/>
                      </a:pPr>
                      <a:r>
                        <a:rPr lang="en-US" sz="1500" dirty="0">
                          <a:solidFill>
                            <a:schemeClr val="tx1"/>
                          </a:solidFill>
                        </a:rPr>
                        <a:t>(배송비는 식당 부담)</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상품·브랜드별 별도 요율</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판매가 − 매입·물류·운영비</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685800">
                <a:tc>
                  <a:txBody>
                    <a:bodyPr/>
                    <a:lstStyle/>
                    <a:p>
                      <a:pPr indent="0" marL="0">
                        <a:buNone/>
                      </a:pPr>
                      <a:r>
                        <a:rPr lang="en-US" sz="1400" b="1" dirty="0">
                          <a:solidFill>
                            <a:schemeClr val="accent5"/>
                          </a:solidFill>
                        </a:rPr>
                        <a:t>고객 배달팁</a:t>
                      </a:r>
                      <a:endParaRPr lang="en-US" sz="14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배민 매출</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점주 매출</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음식배달 요율과 계산 방식이 다름</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500" dirty="0">
                          <a:solidFill>
                            <a:schemeClr val="tx1"/>
                          </a:solidFill>
                        </a:rPr>
                        <a:t>수수료표로는 계산 안 됨</a:t>
                      </a:r>
                      <a:endParaRPr lang="en-US" sz="1500" dirty="0"/>
                    </a:p>
                  </a:txBody>
                  <a:tcPr marL="109728" marR="109728"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4" name="Shape 1"/>
          <p:cNvSpPr/>
          <p:nvPr/>
        </p:nvSpPr>
        <p:spPr>
          <a:xfrm>
            <a:off x="548640" y="4937760"/>
            <a:ext cx="11094415" cy="777240"/>
          </a:xfrm>
          <a:prstGeom prst="rect">
            <a:avLst/>
          </a:prstGeom>
          <a:solidFill>
            <a:schemeClr val="accent4"/>
          </a:solidFill>
          <a:ln/>
        </p:spPr>
      </p:sp>
      <p:sp>
        <p:nvSpPr>
          <p:cNvPr id="5" name="Text 2"/>
          <p:cNvSpPr txBox="1"/>
          <p:nvPr/>
        </p:nvSpPr>
        <p:spPr>
          <a:xfrm>
            <a:off x="868680" y="4937760"/>
            <a:ext cx="10454335" cy="777240"/>
          </a:xfrm>
          <a:prstGeom prst="rect">
            <a:avLst/>
          </a:prstGeom>
          <a:noFill/>
          <a:ln/>
        </p:spPr>
        <p:txBody>
          <a:bodyPr wrap="square" lIns="0" tIns="0" rIns="0" bIns="0" rtlCol="0" anchor="ctr"/>
          <a:lstStyle/>
          <a:p>
            <a:pPr indent="0" marL="0">
              <a:lnSpc>
                <a:spcPct val="110000"/>
              </a:lnSpc>
              <a:buNone/>
            </a:pPr>
            <a:r>
              <a:rPr lang="en-US" sz="1800" b="1" dirty="0">
                <a:solidFill>
                  <a:schemeClr val="tx1"/>
                </a:solidFill>
              </a:rPr>
              <a:t>업주 배달비, 고객 배달팁, 라이더 보수는 서로 다른 돈</a:t>
            </a:r>
            <a:endParaRPr lang="en-US" sz="1800" dirty="0"/>
          </a:p>
        </p:txBody>
      </p:sp>
      <p:sp>
        <p:nvSpPr>
          <p:cNvPr id="6" name="Text 3"/>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배민 공식 안내(배민배달, 가게배달, 부가세 신고자료, 배민스토어 정산), 전자신문(2026.7.)  |  요율은 부가세 별도</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서울 2만 원 주문 예시: 식당 정산액 13,884원</a:t>
            </a:r>
            <a:endParaRPr lang="en-US" sz="2800" dirty="0"/>
          </a:p>
        </p:txBody>
      </p:sp>
      <p:sp>
        <p:nvSpPr>
          <p:cNvPr id="3" name="Shape 1"/>
          <p:cNvSpPr/>
          <p:nvPr/>
        </p:nvSpPr>
        <p:spPr>
          <a:xfrm>
            <a:off x="548640" y="1371600"/>
            <a:ext cx="5029200" cy="4617720"/>
          </a:xfrm>
          <a:prstGeom prst="rect">
            <a:avLst/>
          </a:prstGeom>
          <a:solidFill>
            <a:schemeClr val="bg1"/>
          </a:solidFill>
          <a:ln w="12700">
            <a:solidFill>
              <a:schemeClr val="accent6"/>
            </a:solidFill>
            <a:prstDash val="solid"/>
          </a:ln>
          <a:effectLst>
            <a:outerShdw sx="100000" sy="100000" kx="0" ky="0" algn="bl" rotWithShape="0" blurRad="101600" dist="38100" dir="5400000">
              <a:srgbClr val="000000">
                <a:alpha val="12000"/>
              </a:srgbClr>
            </a:outerShdw>
          </a:effectLst>
        </p:spPr>
      </p:sp>
      <p:sp>
        <p:nvSpPr>
          <p:cNvPr id="4" name="Text 2"/>
          <p:cNvSpPr txBox="1"/>
          <p:nvPr/>
        </p:nvSpPr>
        <p:spPr>
          <a:xfrm>
            <a:off x="868680" y="1600200"/>
            <a:ext cx="2286000" cy="36576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정산 예시</a:t>
            </a:r>
            <a:endParaRPr lang="en-US" sz="1800" dirty="0"/>
          </a:p>
        </p:txBody>
      </p:sp>
      <p:sp>
        <p:nvSpPr>
          <p:cNvPr id="5" name="Text 3"/>
          <p:cNvSpPr txBox="1"/>
          <p:nvPr/>
        </p:nvSpPr>
        <p:spPr>
          <a:xfrm>
            <a:off x="2743200" y="1645920"/>
            <a:ext cx="2514600" cy="320040"/>
          </a:xfrm>
          <a:prstGeom prst="rect">
            <a:avLst/>
          </a:prstGeom>
          <a:noFill/>
          <a:ln/>
        </p:spPr>
        <p:txBody>
          <a:bodyPr wrap="square" lIns="0" tIns="0" rIns="0" bIns="0" rtlCol="0" anchor="t"/>
          <a:lstStyle/>
          <a:p>
            <a:pPr algn="r" indent="0" marL="0">
              <a:lnSpc>
                <a:spcPct val="110000"/>
              </a:lnSpc>
              <a:buNone/>
            </a:pPr>
            <a:r>
              <a:rPr lang="en-US" sz="1300" dirty="0">
                <a:solidFill>
                  <a:schemeClr val="accent5"/>
                </a:solidFill>
              </a:rPr>
              <a:t>서울, 음식값 20,000원</a:t>
            </a:r>
            <a:endParaRPr lang="en-US" sz="1300" dirty="0"/>
          </a:p>
        </p:txBody>
      </p:sp>
      <p:sp>
        <p:nvSpPr>
          <p:cNvPr id="6" name="Shape 4"/>
          <p:cNvSpPr/>
          <p:nvPr/>
        </p:nvSpPr>
        <p:spPr>
          <a:xfrm>
            <a:off x="868680" y="2148840"/>
            <a:ext cx="4389120" cy="0"/>
          </a:xfrm>
          <a:prstGeom prst="line">
            <a:avLst/>
          </a:prstGeom>
          <a:noFill/>
          <a:ln w="12700">
            <a:solidFill>
              <a:schemeClr val="accent5"/>
            </a:solidFill>
            <a:prstDash val="dash"/>
          </a:ln>
        </p:spPr>
      </p:sp>
      <p:sp>
        <p:nvSpPr>
          <p:cNvPr id="7" name="Text 5"/>
          <p:cNvSpPr txBox="1"/>
          <p:nvPr/>
        </p:nvSpPr>
        <p:spPr>
          <a:xfrm>
            <a:off x="868680" y="2286000"/>
            <a:ext cx="2926080" cy="384048"/>
          </a:xfrm>
          <a:prstGeom prst="rect">
            <a:avLst/>
          </a:prstGeom>
          <a:noFill/>
          <a:ln/>
        </p:spPr>
        <p:txBody>
          <a:bodyPr wrap="square" lIns="0" tIns="0" rIns="0" bIns="0" rtlCol="0" anchor="ctr"/>
          <a:lstStyle/>
          <a:p>
            <a:pPr indent="0" marL="0">
              <a:lnSpc>
                <a:spcPct val="110000"/>
              </a:lnSpc>
              <a:buNone/>
            </a:pPr>
            <a:r>
              <a:rPr lang="en-US" sz="1600" dirty="0">
                <a:solidFill>
                  <a:schemeClr val="tx1"/>
                </a:solidFill>
              </a:rPr>
              <a:t>음식 주문금액</a:t>
            </a:r>
            <a:endParaRPr lang="en-US" sz="1600" dirty="0"/>
          </a:p>
        </p:txBody>
      </p:sp>
      <p:sp>
        <p:nvSpPr>
          <p:cNvPr id="8" name="Text 6"/>
          <p:cNvSpPr txBox="1"/>
          <p:nvPr/>
        </p:nvSpPr>
        <p:spPr>
          <a:xfrm>
            <a:off x="3566160" y="2286000"/>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tx1"/>
                </a:solidFill>
              </a:rPr>
              <a:t>20,000</a:t>
            </a:r>
            <a:endParaRPr lang="en-US" sz="1600" dirty="0"/>
          </a:p>
        </p:txBody>
      </p:sp>
      <p:sp>
        <p:nvSpPr>
          <p:cNvPr id="9" name="Text 7"/>
          <p:cNvSpPr txBox="1"/>
          <p:nvPr/>
        </p:nvSpPr>
        <p:spPr>
          <a:xfrm>
            <a:off x="868680" y="2715768"/>
            <a:ext cx="2926080" cy="384048"/>
          </a:xfrm>
          <a:prstGeom prst="rect">
            <a:avLst/>
          </a:prstGeom>
          <a:noFill/>
          <a:ln/>
        </p:spPr>
        <p:txBody>
          <a:bodyPr wrap="square" lIns="0" tIns="0" rIns="0" bIns="0" rtlCol="0" anchor="ctr"/>
          <a:lstStyle/>
          <a:p>
            <a:pPr indent="0" marL="0">
              <a:lnSpc>
                <a:spcPct val="110000"/>
              </a:lnSpc>
              <a:buNone/>
            </a:pPr>
            <a:r>
              <a:rPr lang="en-US" sz="1600" dirty="0">
                <a:solidFill>
                  <a:schemeClr val="tx1"/>
                </a:solidFill>
              </a:rPr>
              <a:t>중개이용료 (7.8%)</a:t>
            </a:r>
            <a:endParaRPr lang="en-US" sz="1600" dirty="0"/>
          </a:p>
        </p:txBody>
      </p:sp>
      <p:sp>
        <p:nvSpPr>
          <p:cNvPr id="10" name="Text 8"/>
          <p:cNvSpPr txBox="1"/>
          <p:nvPr/>
        </p:nvSpPr>
        <p:spPr>
          <a:xfrm>
            <a:off x="3566160" y="2715768"/>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accent2"/>
                </a:solidFill>
              </a:rPr>
              <a:t>−1,560</a:t>
            </a:r>
            <a:endParaRPr lang="en-US" sz="1600" dirty="0"/>
          </a:p>
        </p:txBody>
      </p:sp>
      <p:sp>
        <p:nvSpPr>
          <p:cNvPr id="11" name="Text 9"/>
          <p:cNvSpPr txBox="1"/>
          <p:nvPr/>
        </p:nvSpPr>
        <p:spPr>
          <a:xfrm>
            <a:off x="868680" y="3145536"/>
            <a:ext cx="2926080" cy="384048"/>
          </a:xfrm>
          <a:prstGeom prst="rect">
            <a:avLst/>
          </a:prstGeom>
          <a:noFill/>
          <a:ln/>
        </p:spPr>
        <p:txBody>
          <a:bodyPr wrap="square" lIns="0" tIns="0" rIns="0" bIns="0" rtlCol="0" anchor="ctr"/>
          <a:lstStyle/>
          <a:p>
            <a:pPr indent="0" marL="0">
              <a:lnSpc>
                <a:spcPct val="110000"/>
              </a:lnSpc>
              <a:buNone/>
            </a:pPr>
            <a:r>
              <a:rPr lang="en-US" sz="1600" dirty="0">
                <a:solidFill>
                  <a:schemeClr val="tx1"/>
                </a:solidFill>
              </a:rPr>
              <a:t>결제정산수수료 (3%)</a:t>
            </a:r>
            <a:endParaRPr lang="en-US" sz="1600" dirty="0"/>
          </a:p>
        </p:txBody>
      </p:sp>
      <p:sp>
        <p:nvSpPr>
          <p:cNvPr id="12" name="Text 10"/>
          <p:cNvSpPr txBox="1"/>
          <p:nvPr/>
        </p:nvSpPr>
        <p:spPr>
          <a:xfrm>
            <a:off x="3566160" y="3145536"/>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accent2"/>
                </a:solidFill>
              </a:rPr>
              <a:t>−600</a:t>
            </a:r>
            <a:endParaRPr lang="en-US" sz="1600" dirty="0"/>
          </a:p>
        </p:txBody>
      </p:sp>
      <p:sp>
        <p:nvSpPr>
          <p:cNvPr id="13" name="Text 11"/>
          <p:cNvSpPr txBox="1"/>
          <p:nvPr/>
        </p:nvSpPr>
        <p:spPr>
          <a:xfrm>
            <a:off x="868680" y="3575304"/>
            <a:ext cx="2926080" cy="384048"/>
          </a:xfrm>
          <a:prstGeom prst="rect">
            <a:avLst/>
          </a:prstGeom>
          <a:noFill/>
          <a:ln/>
        </p:spPr>
        <p:txBody>
          <a:bodyPr wrap="square" lIns="0" tIns="0" rIns="0" bIns="0" rtlCol="0" anchor="ctr"/>
          <a:lstStyle/>
          <a:p>
            <a:pPr indent="0" marL="0">
              <a:lnSpc>
                <a:spcPct val="110000"/>
              </a:lnSpc>
              <a:buNone/>
            </a:pPr>
            <a:r>
              <a:rPr lang="en-US" sz="1600" dirty="0">
                <a:solidFill>
                  <a:schemeClr val="tx1"/>
                </a:solidFill>
              </a:rPr>
              <a:t>업주 배달비</a:t>
            </a:r>
            <a:endParaRPr lang="en-US" sz="1600" dirty="0"/>
          </a:p>
        </p:txBody>
      </p:sp>
      <p:sp>
        <p:nvSpPr>
          <p:cNvPr id="14" name="Text 12"/>
          <p:cNvSpPr txBox="1"/>
          <p:nvPr/>
        </p:nvSpPr>
        <p:spPr>
          <a:xfrm>
            <a:off x="3566160" y="3575304"/>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accent2"/>
                </a:solidFill>
              </a:rPr>
              <a:t>−3,400</a:t>
            </a:r>
            <a:endParaRPr lang="en-US" sz="1600" dirty="0"/>
          </a:p>
        </p:txBody>
      </p:sp>
      <p:sp>
        <p:nvSpPr>
          <p:cNvPr id="15" name="Text 13"/>
          <p:cNvSpPr txBox="1"/>
          <p:nvPr/>
        </p:nvSpPr>
        <p:spPr>
          <a:xfrm>
            <a:off x="868680" y="4005072"/>
            <a:ext cx="2926080" cy="384048"/>
          </a:xfrm>
          <a:prstGeom prst="rect">
            <a:avLst/>
          </a:prstGeom>
          <a:noFill/>
          <a:ln/>
        </p:spPr>
        <p:txBody>
          <a:bodyPr wrap="square" lIns="0" tIns="0" rIns="0" bIns="0" rtlCol="0" anchor="ctr"/>
          <a:lstStyle/>
          <a:p>
            <a:pPr indent="0" marL="0">
              <a:lnSpc>
                <a:spcPct val="110000"/>
              </a:lnSpc>
              <a:buNone/>
            </a:pPr>
            <a:r>
              <a:rPr lang="en-US" sz="1600" dirty="0">
                <a:solidFill>
                  <a:schemeClr val="tx1"/>
                </a:solidFill>
              </a:rPr>
              <a:t>부가세 (10%)</a:t>
            </a:r>
            <a:endParaRPr lang="en-US" sz="1600" dirty="0"/>
          </a:p>
        </p:txBody>
      </p:sp>
      <p:sp>
        <p:nvSpPr>
          <p:cNvPr id="16" name="Text 14"/>
          <p:cNvSpPr txBox="1"/>
          <p:nvPr/>
        </p:nvSpPr>
        <p:spPr>
          <a:xfrm>
            <a:off x="3566160" y="4005072"/>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accent2"/>
                </a:solidFill>
              </a:rPr>
              <a:t>−556</a:t>
            </a:r>
            <a:endParaRPr lang="en-US" sz="1600" dirty="0"/>
          </a:p>
        </p:txBody>
      </p:sp>
      <p:sp>
        <p:nvSpPr>
          <p:cNvPr id="17" name="Shape 15"/>
          <p:cNvSpPr/>
          <p:nvPr/>
        </p:nvSpPr>
        <p:spPr>
          <a:xfrm>
            <a:off x="868680" y="4526280"/>
            <a:ext cx="4389120" cy="0"/>
          </a:xfrm>
          <a:prstGeom prst="line">
            <a:avLst/>
          </a:prstGeom>
          <a:noFill/>
          <a:ln w="12700">
            <a:solidFill>
              <a:schemeClr val="accent5"/>
            </a:solidFill>
            <a:prstDash val="dash"/>
          </a:ln>
        </p:spPr>
      </p:sp>
      <p:sp>
        <p:nvSpPr>
          <p:cNvPr id="18" name="Text 16"/>
          <p:cNvSpPr txBox="1"/>
          <p:nvPr/>
        </p:nvSpPr>
        <p:spPr>
          <a:xfrm>
            <a:off x="868680" y="4663440"/>
            <a:ext cx="3108960" cy="384048"/>
          </a:xfrm>
          <a:prstGeom prst="rect">
            <a:avLst/>
          </a:prstGeom>
          <a:noFill/>
          <a:ln/>
        </p:spPr>
        <p:txBody>
          <a:bodyPr wrap="square" lIns="0" tIns="0" rIns="0" bIns="0" rtlCol="0" anchor="ctr"/>
          <a:lstStyle/>
          <a:p>
            <a:pPr indent="0" marL="0">
              <a:lnSpc>
                <a:spcPct val="110000"/>
              </a:lnSpc>
              <a:buNone/>
            </a:pPr>
            <a:r>
              <a:rPr lang="en-US" sz="1600" dirty="0">
                <a:solidFill>
                  <a:schemeClr val="accent5"/>
                </a:solidFill>
              </a:rPr>
              <a:t>빠지는 돈 합계 (30.58%)</a:t>
            </a:r>
            <a:endParaRPr lang="en-US" sz="1600" dirty="0"/>
          </a:p>
        </p:txBody>
      </p:sp>
      <p:sp>
        <p:nvSpPr>
          <p:cNvPr id="19" name="Text 17"/>
          <p:cNvSpPr txBox="1"/>
          <p:nvPr/>
        </p:nvSpPr>
        <p:spPr>
          <a:xfrm>
            <a:off x="3566160" y="4663440"/>
            <a:ext cx="1691640" cy="384048"/>
          </a:xfrm>
          <a:prstGeom prst="rect">
            <a:avLst/>
          </a:prstGeom>
          <a:noFill/>
          <a:ln/>
        </p:spPr>
        <p:txBody>
          <a:bodyPr wrap="square" lIns="0" tIns="0" rIns="0" bIns="0" rtlCol="0" anchor="ctr"/>
          <a:lstStyle/>
          <a:p>
            <a:pPr algn="r" indent="0" marL="0">
              <a:lnSpc>
                <a:spcPct val="110000"/>
              </a:lnSpc>
              <a:buNone/>
            </a:pPr>
            <a:r>
              <a:rPr lang="en-US" sz="1600" dirty="0">
                <a:solidFill>
                  <a:schemeClr val="accent2"/>
                </a:solidFill>
              </a:rPr>
              <a:t>−6,116</a:t>
            </a:r>
            <a:endParaRPr lang="en-US" sz="1600" dirty="0"/>
          </a:p>
        </p:txBody>
      </p:sp>
      <p:sp>
        <p:nvSpPr>
          <p:cNvPr id="20" name="Text 18"/>
          <p:cNvSpPr txBox="1"/>
          <p:nvPr/>
        </p:nvSpPr>
        <p:spPr>
          <a:xfrm>
            <a:off x="868680" y="5166360"/>
            <a:ext cx="2743200" cy="502920"/>
          </a:xfrm>
          <a:prstGeom prst="rect">
            <a:avLst/>
          </a:prstGeom>
          <a:noFill/>
          <a:ln/>
        </p:spPr>
        <p:txBody>
          <a:bodyPr wrap="square" lIns="0" tIns="0" rIns="0" bIns="0" rtlCol="0" anchor="ctr"/>
          <a:lstStyle/>
          <a:p>
            <a:pPr indent="0" marL="0">
              <a:lnSpc>
                <a:spcPct val="110000"/>
              </a:lnSpc>
              <a:buNone/>
            </a:pPr>
            <a:r>
              <a:rPr lang="en-US" sz="1900" b="1" dirty="0">
                <a:solidFill>
                  <a:schemeClr val="tx1"/>
                </a:solidFill>
              </a:rPr>
              <a:t>식당 정산액</a:t>
            </a:r>
            <a:endParaRPr lang="en-US" sz="1900" dirty="0"/>
          </a:p>
        </p:txBody>
      </p:sp>
      <p:sp>
        <p:nvSpPr>
          <p:cNvPr id="21" name="Text 19"/>
          <p:cNvSpPr txBox="1"/>
          <p:nvPr/>
        </p:nvSpPr>
        <p:spPr>
          <a:xfrm>
            <a:off x="2926080" y="5166360"/>
            <a:ext cx="2331720" cy="502920"/>
          </a:xfrm>
          <a:prstGeom prst="rect">
            <a:avLst/>
          </a:prstGeom>
          <a:noFill/>
          <a:ln/>
        </p:spPr>
        <p:txBody>
          <a:bodyPr wrap="square" lIns="0" tIns="0" rIns="0" bIns="0" rtlCol="0" anchor="ctr"/>
          <a:lstStyle/>
          <a:p>
            <a:pPr algn="r" indent="0" marL="0">
              <a:lnSpc>
                <a:spcPct val="110000"/>
              </a:lnSpc>
              <a:buNone/>
            </a:pPr>
            <a:r>
              <a:rPr lang="en-US" sz="2400" b="1" dirty="0">
                <a:solidFill>
                  <a:schemeClr val="accent1"/>
                </a:solidFill>
              </a:rPr>
              <a:t>13,884원</a:t>
            </a:r>
            <a:endParaRPr lang="en-US" sz="2400" dirty="0"/>
          </a:p>
        </p:txBody>
      </p:sp>
      <p:sp>
        <p:nvSpPr>
          <p:cNvPr id="22" name="Text 20"/>
          <p:cNvSpPr txBox="1"/>
          <p:nvPr/>
        </p:nvSpPr>
        <p:spPr>
          <a:xfrm>
            <a:off x="6172200" y="1463040"/>
            <a:ext cx="5470855" cy="384048"/>
          </a:xfrm>
          <a:prstGeom prst="rect">
            <a:avLst/>
          </a:prstGeom>
          <a:noFill/>
          <a:ln/>
        </p:spPr>
        <p:txBody>
          <a:bodyPr wrap="square" lIns="0" tIns="0" rIns="0" bIns="0" rtlCol="0" anchor="t"/>
          <a:lstStyle/>
          <a:p>
            <a:pPr indent="0" marL="0">
              <a:lnSpc>
                <a:spcPct val="110000"/>
              </a:lnSpc>
              <a:buNone/>
            </a:pPr>
            <a:r>
              <a:rPr lang="en-US" sz="1900" b="1" dirty="0">
                <a:solidFill>
                  <a:schemeClr val="tx1"/>
                </a:solidFill>
              </a:rPr>
              <a:t>13,884원에서 또 나가는 돈</a:t>
            </a:r>
            <a:endParaRPr lang="en-US" sz="1900" dirty="0"/>
          </a:p>
        </p:txBody>
      </p:sp>
      <p:sp>
        <p:nvSpPr>
          <p:cNvPr id="23" name="Text 21"/>
          <p:cNvSpPr txBox="1"/>
          <p:nvPr/>
        </p:nvSpPr>
        <p:spPr>
          <a:xfrm>
            <a:off x="6172200" y="1892808"/>
            <a:ext cx="5470855"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식재료, 포장, 인건비, 임차료는 정산 후에도 식당이 부담</a:t>
            </a:r>
            <a:endParaRPr lang="en-US" sz="1500" dirty="0"/>
          </a:p>
        </p:txBody>
      </p:sp>
      <p:sp>
        <p:nvSpPr>
          <p:cNvPr id="24" name="Shape 22"/>
          <p:cNvSpPr/>
          <p:nvPr/>
        </p:nvSpPr>
        <p:spPr>
          <a:xfrm>
            <a:off x="6172200" y="2697480"/>
            <a:ext cx="5470855" cy="0"/>
          </a:xfrm>
          <a:prstGeom prst="line">
            <a:avLst/>
          </a:prstGeom>
          <a:noFill/>
          <a:ln w="12700">
            <a:solidFill>
              <a:schemeClr val="accent6"/>
            </a:solidFill>
            <a:prstDash val="solid"/>
          </a:ln>
        </p:spPr>
      </p:sp>
      <p:sp>
        <p:nvSpPr>
          <p:cNvPr id="25" name="Text 23"/>
          <p:cNvSpPr txBox="1"/>
          <p:nvPr/>
        </p:nvSpPr>
        <p:spPr>
          <a:xfrm>
            <a:off x="6172200" y="2880360"/>
            <a:ext cx="5470855" cy="384048"/>
          </a:xfrm>
          <a:prstGeom prst="rect">
            <a:avLst/>
          </a:prstGeom>
          <a:noFill/>
          <a:ln/>
        </p:spPr>
        <p:txBody>
          <a:bodyPr wrap="square" lIns="0" tIns="0" rIns="0" bIns="0" rtlCol="0" anchor="t"/>
          <a:lstStyle/>
          <a:p>
            <a:pPr indent="0" marL="0">
              <a:lnSpc>
                <a:spcPct val="110000"/>
              </a:lnSpc>
              <a:buNone/>
            </a:pPr>
            <a:r>
              <a:rPr lang="en-US" sz="1900" b="1" dirty="0">
                <a:solidFill>
                  <a:schemeClr val="tx1"/>
                </a:solidFill>
              </a:rPr>
              <a:t>빠지는 6,116원에 섞인 것</a:t>
            </a:r>
            <a:endParaRPr lang="en-US" sz="1900" dirty="0"/>
          </a:p>
        </p:txBody>
      </p:sp>
      <p:sp>
        <p:nvSpPr>
          <p:cNvPr id="26" name="Text 24"/>
          <p:cNvSpPr txBox="1"/>
          <p:nvPr/>
        </p:nvSpPr>
        <p:spPr>
          <a:xfrm>
            <a:off x="6172200" y="3310128"/>
            <a:ext cx="5470855" cy="73152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중개이용료, 결제수수료, 배달비, 부가세가 섞여 있어서, 공개자료로는 플랫폼 몫과 라이더 몫을 나눌 수 없음</a:t>
            </a:r>
            <a:endParaRPr lang="en-US" sz="1500" dirty="0"/>
          </a:p>
        </p:txBody>
      </p:sp>
      <p:sp>
        <p:nvSpPr>
          <p:cNvPr id="27" name="Text 25"/>
          <p:cNvSpPr txBox="1"/>
          <p:nvPr/>
        </p:nvSpPr>
        <p:spPr>
          <a:xfrm>
            <a:off x="6172200" y="4800600"/>
            <a:ext cx="5470855" cy="1143000"/>
          </a:xfrm>
          <a:prstGeom prst="rect">
            <a:avLst/>
          </a:prstGeom>
          <a:noFill/>
          <a:ln/>
        </p:spPr>
        <p:txBody>
          <a:bodyPr wrap="square" lIns="0" tIns="0" rIns="0" bIns="0" rtlCol="0" anchor="b"/>
          <a:lstStyle/>
          <a:p>
            <a:pPr indent="0" marL="0">
              <a:lnSpc>
                <a:spcPct val="125000"/>
              </a:lnSpc>
              <a:buNone/>
            </a:pPr>
            <a:r>
              <a:rPr lang="en-US" sz="1200" dirty="0">
                <a:solidFill>
                  <a:schemeClr val="accent5"/>
                </a:solidFill>
              </a:rPr>
              <a:t>부가세 = (중개이용료 + 결제정산수수료 + 업주 배달비) × 10%</a:t>
            </a:r>
            <a:endParaRPr lang="en-US" sz="1200" dirty="0"/>
          </a:p>
          <a:p>
            <a:pPr indent="0" marL="0">
              <a:lnSpc>
                <a:spcPct val="125000"/>
              </a:lnSpc>
              <a:buNone/>
            </a:pPr>
            <a:r>
              <a:rPr lang="en-US" sz="1200" dirty="0">
                <a:solidFill>
                  <a:schemeClr val="accent5"/>
                </a:solidFill>
              </a:rPr>
              <a:t>결제정산수수료 3%는 자료의 가정, 광고비·점주 부담 쿠폰은 0원으로 계산</a:t>
            </a:r>
            <a:endParaRPr lang="en-US" sz="1200" dirty="0"/>
          </a:p>
          <a:p>
            <a:pPr indent="0" marL="0">
              <a:lnSpc>
                <a:spcPct val="125000"/>
              </a:lnSpc>
              <a:buNone/>
            </a:pPr>
            <a:r>
              <a:rPr lang="en-US" sz="1200" dirty="0">
                <a:solidFill>
                  <a:schemeClr val="accent5"/>
                </a:solidFill>
              </a:rPr>
              <a:t>배달팁, 구독료, 라이더 보수는 계산에 넣지 않음</a:t>
            </a:r>
            <a:endParaRPr lang="en-US" sz="1200" dirty="0"/>
          </a:p>
        </p:txBody>
      </p:sp>
      <p:sp>
        <p:nvSpPr>
          <p:cNvPr id="28" name="Text 26"/>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농림축산식품부 공공배달앱 비교자료(2025.4.6.) 붙임 2의 서울·2만 원 예시를 다시 계산</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사례 1. 배민-요기요 기업결합</a:t>
            </a:r>
            <a:endParaRPr lang="en-US" sz="2800" dirty="0"/>
          </a:p>
        </p:txBody>
      </p:sp>
      <p:sp>
        <p:nvSpPr>
          <p:cNvPr id="3" name="Text 1"/>
          <p:cNvSpPr txBox="1"/>
          <p:nvPr/>
        </p:nvSpPr>
        <p:spPr>
          <a:xfrm>
            <a:off x="548640" y="141732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쟁점</a:t>
            </a:r>
            <a:endParaRPr lang="en-US" sz="1500" dirty="0"/>
          </a:p>
        </p:txBody>
      </p:sp>
      <p:sp>
        <p:nvSpPr>
          <p:cNvPr id="4" name="Text 2"/>
          <p:cNvSpPr txBox="1"/>
          <p:nvPr/>
        </p:nvSpPr>
        <p:spPr>
          <a:xfrm>
            <a:off x="548640" y="1783080"/>
            <a:ext cx="512064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600" dirty="0">
                <a:solidFill>
                  <a:schemeClr val="tx1"/>
                </a:solidFill>
              </a:rPr>
              <a:t>딜리버리히어로(요기요 운영사의 모회사)가 배민 운영사 우아한형제들 인수를 추진</a:t>
            </a:r>
            <a:endParaRPr lang="en-US" sz="1600" dirty="0"/>
          </a:p>
          <a:p>
            <a:pPr marL="342900" indent="-342900">
              <a:lnSpc>
                <a:spcPct val="115000"/>
              </a:lnSpc>
              <a:spcAft>
                <a:spcPts val="600"/>
              </a:spcAft>
              <a:buSzPct val="100000"/>
              <a:buChar char="•"/>
            </a:pPr>
            <a:r>
              <a:rPr lang="en-US" sz="1600" dirty="0">
                <a:solidFill>
                  <a:schemeClr val="tx1"/>
                </a:solidFill>
              </a:rPr>
              <a:t>주요 배달앱 두 곳이 한 기업집단에 묶이면 수수료·할인·서비스 경쟁이 약해질 수 있다는 우려</a:t>
            </a:r>
            <a:endParaRPr lang="en-US" sz="1600" dirty="0"/>
          </a:p>
        </p:txBody>
      </p:sp>
      <p:sp>
        <p:nvSpPr>
          <p:cNvPr id="5" name="Text 3"/>
          <p:cNvSpPr txBox="1"/>
          <p:nvPr/>
        </p:nvSpPr>
        <p:spPr>
          <a:xfrm>
            <a:off x="548640" y="361188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영향을 받는 쪽</a:t>
            </a:r>
            <a:endParaRPr lang="en-US" sz="1500" dirty="0"/>
          </a:p>
        </p:txBody>
      </p:sp>
      <p:sp>
        <p:nvSpPr>
          <p:cNvPr id="6" name="Text 4"/>
          <p:cNvSpPr txBox="1"/>
          <p:nvPr/>
        </p:nvSpPr>
        <p:spPr>
          <a:xfrm>
            <a:off x="548640" y="3950208"/>
            <a:ext cx="5120640" cy="77724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입점 음식점, 주문하는 소비자, 배달앱 시장의 경쟁 사업자</a:t>
            </a:r>
            <a:endParaRPr lang="en-US" sz="1600" dirty="0"/>
          </a:p>
        </p:txBody>
      </p:sp>
      <p:sp>
        <p:nvSpPr>
          <p:cNvPr id="7" name="Text 5"/>
          <p:cNvSpPr txBox="1"/>
          <p:nvPr/>
        </p:nvSpPr>
        <p:spPr>
          <a:xfrm>
            <a:off x="6263640" y="1417320"/>
            <a:ext cx="5379415"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진행 과정</a:t>
            </a:r>
            <a:endParaRPr lang="en-US" sz="1500" dirty="0"/>
          </a:p>
        </p:txBody>
      </p:sp>
      <p:sp>
        <p:nvSpPr>
          <p:cNvPr id="8" name="Shape 6"/>
          <p:cNvSpPr/>
          <p:nvPr/>
        </p:nvSpPr>
        <p:spPr>
          <a:xfrm>
            <a:off x="6345936" y="1984248"/>
            <a:ext cx="0" cy="1234440"/>
          </a:xfrm>
          <a:prstGeom prst="line">
            <a:avLst/>
          </a:prstGeom>
          <a:noFill/>
          <a:ln w="19050">
            <a:solidFill>
              <a:schemeClr val="accent6"/>
            </a:solidFill>
            <a:prstDash val="solid"/>
          </a:ln>
        </p:spPr>
      </p:sp>
      <p:sp>
        <p:nvSpPr>
          <p:cNvPr id="9" name="Shape 7"/>
          <p:cNvSpPr/>
          <p:nvPr/>
        </p:nvSpPr>
        <p:spPr>
          <a:xfrm>
            <a:off x="6263640" y="1901952"/>
            <a:ext cx="164592" cy="164592"/>
          </a:xfrm>
          <a:prstGeom prst="ellipse">
            <a:avLst/>
          </a:prstGeom>
          <a:solidFill>
            <a:schemeClr val="bg1"/>
          </a:solidFill>
          <a:ln w="19050">
            <a:solidFill>
              <a:schemeClr val="accent1"/>
            </a:solidFill>
            <a:prstDash val="solid"/>
          </a:ln>
        </p:spPr>
      </p:sp>
      <p:sp>
        <p:nvSpPr>
          <p:cNvPr id="10" name="Text 8"/>
          <p:cNvSpPr txBox="1"/>
          <p:nvPr/>
        </p:nvSpPr>
        <p:spPr>
          <a:xfrm>
            <a:off x="6629400" y="183794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2020. 12. 28.</a:t>
            </a:r>
            <a:endParaRPr lang="en-US" sz="1500" dirty="0"/>
          </a:p>
        </p:txBody>
      </p:sp>
      <p:sp>
        <p:nvSpPr>
          <p:cNvPr id="11" name="Text 9"/>
          <p:cNvSpPr txBox="1"/>
          <p:nvPr/>
        </p:nvSpPr>
        <p:spPr>
          <a:xfrm>
            <a:off x="6629400" y="2148840"/>
            <a:ext cx="5013655" cy="91440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공정위, 요기요 매각 등을 조건으로 기업결합 승인</a:t>
            </a:r>
            <a:endParaRPr lang="en-US" sz="1400" dirty="0"/>
          </a:p>
        </p:txBody>
      </p:sp>
      <p:sp>
        <p:nvSpPr>
          <p:cNvPr id="12" name="Shape 10"/>
          <p:cNvSpPr/>
          <p:nvPr/>
        </p:nvSpPr>
        <p:spPr>
          <a:xfrm>
            <a:off x="6263640" y="3136392"/>
            <a:ext cx="164592" cy="164592"/>
          </a:xfrm>
          <a:prstGeom prst="ellipse">
            <a:avLst/>
          </a:prstGeom>
          <a:solidFill>
            <a:schemeClr val="accent1"/>
          </a:solidFill>
          <a:ln w="19050">
            <a:solidFill>
              <a:schemeClr val="accent1"/>
            </a:solidFill>
            <a:prstDash val="solid"/>
          </a:ln>
        </p:spPr>
      </p:sp>
      <p:sp>
        <p:nvSpPr>
          <p:cNvPr id="13" name="Text 11"/>
          <p:cNvSpPr txBox="1"/>
          <p:nvPr/>
        </p:nvSpPr>
        <p:spPr>
          <a:xfrm>
            <a:off x="6629400" y="307238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2021. 10. 29.</a:t>
            </a:r>
            <a:endParaRPr lang="en-US" sz="1500" dirty="0"/>
          </a:p>
        </p:txBody>
      </p:sp>
      <p:sp>
        <p:nvSpPr>
          <p:cNvPr id="14" name="Text 12"/>
          <p:cNvSpPr txBox="1"/>
          <p:nvPr/>
        </p:nvSpPr>
        <p:spPr>
          <a:xfrm>
            <a:off x="6629400" y="3383280"/>
            <a:ext cx="5013655" cy="91440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딜리버리히어로, 요기요 운영사 지분 100% 매각 완료 발표</a:t>
            </a:r>
            <a:endParaRPr lang="en-US" sz="1400" dirty="0"/>
          </a:p>
        </p:txBody>
      </p:sp>
      <p:sp>
        <p:nvSpPr>
          <p:cNvPr id="15" name="Shape 13"/>
          <p:cNvSpPr/>
          <p:nvPr/>
        </p:nvSpPr>
        <p:spPr>
          <a:xfrm>
            <a:off x="548640" y="4983480"/>
            <a:ext cx="11094415" cy="868680"/>
          </a:xfrm>
          <a:prstGeom prst="rect">
            <a:avLst/>
          </a:prstGeom>
          <a:solidFill>
            <a:schemeClr val="accent3"/>
          </a:solidFill>
          <a:ln/>
        </p:spPr>
      </p:sp>
      <p:sp>
        <p:nvSpPr>
          <p:cNvPr id="16" name="Text 14"/>
          <p:cNvSpPr txBox="1"/>
          <p:nvPr/>
        </p:nvSpPr>
        <p:spPr>
          <a:xfrm>
            <a:off x="868680" y="4983480"/>
            <a:ext cx="10454335" cy="868680"/>
          </a:xfrm>
          <a:prstGeom prst="rect">
            <a:avLst/>
          </a:prstGeom>
          <a:noFill/>
          <a:ln/>
        </p:spPr>
        <p:txBody>
          <a:bodyPr wrap="square" lIns="0" tIns="0" rIns="0" bIns="0" rtlCol="0" anchor="ctr"/>
          <a:lstStyle/>
          <a:p>
            <a:pPr indent="0" marL="0">
              <a:lnSpc>
                <a:spcPct val="110000"/>
              </a:lnSpc>
              <a:buNone/>
            </a:pPr>
            <a:r>
              <a:rPr lang="en-US" sz="1700" b="1" dirty="0">
                <a:solidFill>
                  <a:schemeClr val="accent1"/>
                </a:solidFill>
              </a:rPr>
              <a:t>정리   </a:t>
            </a:r>
            <a:pPr indent="0" marL="0">
              <a:lnSpc>
                <a:spcPct val="110000"/>
              </a:lnSpc>
              <a:buNone/>
            </a:pPr>
            <a:r>
              <a:rPr lang="en-US" sz="1700" b="1" dirty="0">
                <a:solidFill>
                  <a:schemeClr val="tx1"/>
                </a:solidFill>
              </a:rPr>
              <a:t>결합 전 심사에서 요기요 매각을 조건으로 붙인 사례</a:t>
            </a:r>
            <a:endParaRPr lang="en-US" sz="1700" dirty="0"/>
          </a:p>
        </p:txBody>
      </p:sp>
      <p:sp>
        <p:nvSpPr>
          <p:cNvPr id="17" name="Text 15"/>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공정거래위원회 보도자료(2020.12.28.), 딜리버리히어로 발표(2021.10.29.)</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사례 2. 쿠팡 검색순위·임직원 리뷰 사건</a:t>
            </a:r>
            <a:endParaRPr lang="en-US" sz="2800" dirty="0"/>
          </a:p>
        </p:txBody>
      </p:sp>
      <p:sp>
        <p:nvSpPr>
          <p:cNvPr id="3" name="Text 1"/>
          <p:cNvSpPr txBox="1"/>
          <p:nvPr/>
        </p:nvSpPr>
        <p:spPr>
          <a:xfrm>
            <a:off x="548640" y="141732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쟁점</a:t>
            </a:r>
            <a:endParaRPr lang="en-US" sz="1500" dirty="0"/>
          </a:p>
        </p:txBody>
      </p:sp>
      <p:sp>
        <p:nvSpPr>
          <p:cNvPr id="4" name="Text 2"/>
          <p:cNvSpPr txBox="1"/>
          <p:nvPr/>
        </p:nvSpPr>
        <p:spPr>
          <a:xfrm>
            <a:off x="548640" y="1783080"/>
            <a:ext cx="512064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600" dirty="0">
                <a:solidFill>
                  <a:schemeClr val="tx1"/>
                </a:solidFill>
              </a:rPr>
              <a:t>쿠팡이 직접 사서 파는 상품·자체브랜드 상품과 입점 판매자 상품이 같은 검색 결과에서 경쟁</a:t>
            </a:r>
            <a:endParaRPr lang="en-US" sz="1600" dirty="0"/>
          </a:p>
          <a:p>
            <a:pPr marL="342900" indent="-342900">
              <a:lnSpc>
                <a:spcPct val="115000"/>
              </a:lnSpc>
              <a:spcAft>
                <a:spcPts val="600"/>
              </a:spcAft>
              <a:buSzPct val="100000"/>
              <a:buChar char="•"/>
            </a:pPr>
            <a:r>
              <a:rPr lang="en-US" sz="1600" dirty="0">
                <a:solidFill>
                  <a:schemeClr val="tx1"/>
                </a:solidFill>
              </a:rPr>
              <a:t>공정위 판단: 검색순위 운영과 임직원 리뷰로 자기 상품을 우대해 소비자를 유인함</a:t>
            </a:r>
            <a:endParaRPr lang="en-US" sz="1600" dirty="0"/>
          </a:p>
        </p:txBody>
      </p:sp>
      <p:sp>
        <p:nvSpPr>
          <p:cNvPr id="5" name="Text 3"/>
          <p:cNvSpPr txBox="1"/>
          <p:nvPr/>
        </p:nvSpPr>
        <p:spPr>
          <a:xfrm>
            <a:off x="548640" y="361188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영향을 받는 쪽</a:t>
            </a:r>
            <a:endParaRPr lang="en-US" sz="1500" dirty="0"/>
          </a:p>
        </p:txBody>
      </p:sp>
      <p:sp>
        <p:nvSpPr>
          <p:cNvPr id="6" name="Text 4"/>
          <p:cNvSpPr txBox="1"/>
          <p:nvPr/>
        </p:nvSpPr>
        <p:spPr>
          <a:xfrm>
            <a:off x="548640" y="3950208"/>
            <a:ext cx="5120640" cy="77724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입점 판매자의 노출 기회, 소비자의 비교·선택, 검색 결과에 대한 신뢰</a:t>
            </a:r>
            <a:endParaRPr lang="en-US" sz="1600" dirty="0"/>
          </a:p>
        </p:txBody>
      </p:sp>
      <p:sp>
        <p:nvSpPr>
          <p:cNvPr id="7" name="Text 5"/>
          <p:cNvSpPr txBox="1"/>
          <p:nvPr/>
        </p:nvSpPr>
        <p:spPr>
          <a:xfrm>
            <a:off x="6263640" y="1417320"/>
            <a:ext cx="5379415"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진행 과정</a:t>
            </a:r>
            <a:endParaRPr lang="en-US" sz="1500" dirty="0"/>
          </a:p>
        </p:txBody>
      </p:sp>
      <p:sp>
        <p:nvSpPr>
          <p:cNvPr id="8" name="Shape 6"/>
          <p:cNvSpPr/>
          <p:nvPr/>
        </p:nvSpPr>
        <p:spPr>
          <a:xfrm>
            <a:off x="6345936" y="1984248"/>
            <a:ext cx="0" cy="1234440"/>
          </a:xfrm>
          <a:prstGeom prst="line">
            <a:avLst/>
          </a:prstGeom>
          <a:noFill/>
          <a:ln w="19050">
            <a:solidFill>
              <a:schemeClr val="accent6"/>
            </a:solidFill>
            <a:prstDash val="solid"/>
          </a:ln>
        </p:spPr>
      </p:sp>
      <p:sp>
        <p:nvSpPr>
          <p:cNvPr id="9" name="Shape 7"/>
          <p:cNvSpPr/>
          <p:nvPr/>
        </p:nvSpPr>
        <p:spPr>
          <a:xfrm>
            <a:off x="6263640" y="1901952"/>
            <a:ext cx="164592" cy="164592"/>
          </a:xfrm>
          <a:prstGeom prst="ellipse">
            <a:avLst/>
          </a:prstGeom>
          <a:solidFill>
            <a:schemeClr val="bg1"/>
          </a:solidFill>
          <a:ln w="19050">
            <a:solidFill>
              <a:schemeClr val="accent1"/>
            </a:solidFill>
            <a:prstDash val="solid"/>
          </a:ln>
        </p:spPr>
      </p:sp>
      <p:sp>
        <p:nvSpPr>
          <p:cNvPr id="10" name="Text 8"/>
          <p:cNvSpPr txBox="1"/>
          <p:nvPr/>
        </p:nvSpPr>
        <p:spPr>
          <a:xfrm>
            <a:off x="6629400" y="183794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2024. 8. 5.</a:t>
            </a:r>
            <a:endParaRPr lang="en-US" sz="1500" dirty="0"/>
          </a:p>
        </p:txBody>
      </p:sp>
      <p:sp>
        <p:nvSpPr>
          <p:cNvPr id="11" name="Text 9"/>
          <p:cNvSpPr txBox="1"/>
          <p:nvPr/>
        </p:nvSpPr>
        <p:spPr>
          <a:xfrm>
            <a:off x="6629400" y="2148840"/>
            <a:ext cx="5013655" cy="91440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공정위 의결: 부당한 고객유인행위로</a:t>
            </a:r>
            <a:endParaRPr lang="en-US" sz="1400" dirty="0"/>
          </a:p>
          <a:p>
            <a:pPr indent="0" marL="0">
              <a:lnSpc>
                <a:spcPct val="112000"/>
              </a:lnSpc>
              <a:buNone/>
            </a:pPr>
            <a:r>
              <a:rPr lang="en-US" sz="1400" dirty="0">
                <a:solidFill>
                  <a:schemeClr val="tx1"/>
                </a:solidFill>
              </a:rPr>
              <a:t>시정명령, 과징금 1,628억 2,400만 원</a:t>
            </a:r>
            <a:endParaRPr lang="en-US" sz="1400" dirty="0"/>
          </a:p>
        </p:txBody>
      </p:sp>
      <p:sp>
        <p:nvSpPr>
          <p:cNvPr id="12" name="Shape 10"/>
          <p:cNvSpPr/>
          <p:nvPr/>
        </p:nvSpPr>
        <p:spPr>
          <a:xfrm>
            <a:off x="6263640" y="3136392"/>
            <a:ext cx="164592" cy="164592"/>
          </a:xfrm>
          <a:prstGeom prst="ellipse">
            <a:avLst/>
          </a:prstGeom>
          <a:solidFill>
            <a:schemeClr val="accent1"/>
          </a:solidFill>
          <a:ln w="19050">
            <a:solidFill>
              <a:schemeClr val="accent1"/>
            </a:solidFill>
            <a:prstDash val="solid"/>
          </a:ln>
        </p:spPr>
      </p:sp>
      <p:sp>
        <p:nvSpPr>
          <p:cNvPr id="13" name="Text 11"/>
          <p:cNvSpPr txBox="1"/>
          <p:nvPr/>
        </p:nvSpPr>
        <p:spPr>
          <a:xfrm>
            <a:off x="6629400" y="307238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2026년 2분기</a:t>
            </a:r>
            <a:endParaRPr lang="en-US" sz="1500" dirty="0"/>
          </a:p>
        </p:txBody>
      </p:sp>
      <p:sp>
        <p:nvSpPr>
          <p:cNvPr id="14" name="Text 12"/>
          <p:cNvSpPr txBox="1"/>
          <p:nvPr/>
        </p:nvSpPr>
        <p:spPr>
          <a:xfrm>
            <a:off x="6629400" y="3383280"/>
            <a:ext cx="5013655" cy="91440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쿠팡 공시: 공정위를 상대로 한 행정소송 진행 중</a:t>
            </a:r>
            <a:endParaRPr lang="en-US" sz="1400" dirty="0"/>
          </a:p>
        </p:txBody>
      </p:sp>
      <p:sp>
        <p:nvSpPr>
          <p:cNvPr id="15" name="Shape 13"/>
          <p:cNvSpPr/>
          <p:nvPr/>
        </p:nvSpPr>
        <p:spPr>
          <a:xfrm>
            <a:off x="548640" y="4983480"/>
            <a:ext cx="11094415" cy="868680"/>
          </a:xfrm>
          <a:prstGeom prst="rect">
            <a:avLst/>
          </a:prstGeom>
          <a:solidFill>
            <a:schemeClr val="accent3"/>
          </a:solidFill>
          <a:ln/>
        </p:spPr>
      </p:sp>
      <p:sp>
        <p:nvSpPr>
          <p:cNvPr id="16" name="Text 14"/>
          <p:cNvSpPr txBox="1"/>
          <p:nvPr/>
        </p:nvSpPr>
        <p:spPr>
          <a:xfrm>
            <a:off x="868680" y="4983480"/>
            <a:ext cx="10454335" cy="868680"/>
          </a:xfrm>
          <a:prstGeom prst="rect">
            <a:avLst/>
          </a:prstGeom>
          <a:noFill/>
          <a:ln/>
        </p:spPr>
        <p:txBody>
          <a:bodyPr wrap="square" lIns="0" tIns="0" rIns="0" bIns="0" rtlCol="0" anchor="ctr"/>
          <a:lstStyle/>
          <a:p>
            <a:pPr indent="0" marL="0">
              <a:lnSpc>
                <a:spcPct val="110000"/>
              </a:lnSpc>
              <a:buNone/>
            </a:pPr>
            <a:r>
              <a:rPr lang="en-US" sz="1700" b="1" dirty="0">
                <a:solidFill>
                  <a:schemeClr val="accent1"/>
                </a:solidFill>
              </a:rPr>
              <a:t>정리   </a:t>
            </a:r>
            <a:pPr indent="0" marL="0">
              <a:lnSpc>
                <a:spcPct val="110000"/>
              </a:lnSpc>
              <a:buNone/>
            </a:pPr>
            <a:r>
              <a:rPr lang="en-US" sz="1700" b="1" dirty="0">
                <a:solidFill>
                  <a:schemeClr val="tx1"/>
                </a:solidFill>
              </a:rPr>
              <a:t>공정위는 제재했고, 쿠팡은 불복해 소송 중 (2026년 2분기 공시 기준)</a:t>
            </a:r>
            <a:endParaRPr lang="en-US" sz="1700" dirty="0"/>
          </a:p>
        </p:txBody>
      </p:sp>
      <p:sp>
        <p:nvSpPr>
          <p:cNvPr id="17" name="Text 15"/>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공정거래위원회 의결(2024), 쿠팡 2026년 2분기 미국 공시</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사례 3. 구글 쇼핑 사건 (EU)</a:t>
            </a:r>
            <a:endParaRPr lang="en-US" sz="2800" dirty="0"/>
          </a:p>
        </p:txBody>
      </p:sp>
      <p:sp>
        <p:nvSpPr>
          <p:cNvPr id="3" name="Text 1"/>
          <p:cNvSpPr txBox="1"/>
          <p:nvPr/>
        </p:nvSpPr>
        <p:spPr>
          <a:xfrm>
            <a:off x="548640" y="141732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쟁점</a:t>
            </a:r>
            <a:endParaRPr lang="en-US" sz="1500" dirty="0"/>
          </a:p>
        </p:txBody>
      </p:sp>
      <p:sp>
        <p:nvSpPr>
          <p:cNvPr id="4" name="Text 2"/>
          <p:cNvSpPr txBox="1"/>
          <p:nvPr/>
        </p:nvSpPr>
        <p:spPr>
          <a:xfrm>
            <a:off x="548640" y="1783080"/>
            <a:ext cx="5120640" cy="178308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600" dirty="0">
                <a:solidFill>
                  <a:schemeClr val="tx1"/>
                </a:solidFill>
              </a:rPr>
              <a:t>구글이 검색 결과에서 자사 비교쇼핑 서비스는 유리하게 노출</a:t>
            </a:r>
            <a:endParaRPr lang="en-US" sz="1600" dirty="0"/>
          </a:p>
          <a:p>
            <a:pPr marL="342900" indent="-342900">
              <a:lnSpc>
                <a:spcPct val="115000"/>
              </a:lnSpc>
              <a:spcAft>
                <a:spcPts val="600"/>
              </a:spcAft>
              <a:buSzPct val="100000"/>
              <a:buChar char="•"/>
            </a:pPr>
            <a:r>
              <a:rPr lang="en-US" sz="1600" dirty="0">
                <a:solidFill>
                  <a:schemeClr val="tx1"/>
                </a:solidFill>
              </a:rPr>
              <a:t>경쟁 비교쇼핑 서비스의 결과는 불리하게 취급</a:t>
            </a:r>
            <a:endParaRPr lang="en-US" sz="1600" dirty="0"/>
          </a:p>
          <a:p>
            <a:pPr marL="342900" indent="-342900">
              <a:lnSpc>
                <a:spcPct val="115000"/>
              </a:lnSpc>
              <a:spcAft>
                <a:spcPts val="600"/>
              </a:spcAft>
              <a:buSzPct val="100000"/>
              <a:buChar char="•"/>
            </a:pPr>
            <a:r>
              <a:rPr lang="en-US" sz="1600" dirty="0">
                <a:solidFill>
                  <a:schemeClr val="tx1"/>
                </a:solidFill>
              </a:rPr>
              <a:t>대상 지역: 유럽경제지역 13개국</a:t>
            </a:r>
            <a:endParaRPr lang="en-US" sz="1600" dirty="0"/>
          </a:p>
        </p:txBody>
      </p:sp>
      <p:sp>
        <p:nvSpPr>
          <p:cNvPr id="5" name="Text 3"/>
          <p:cNvSpPr txBox="1"/>
          <p:nvPr/>
        </p:nvSpPr>
        <p:spPr>
          <a:xfrm>
            <a:off x="548640" y="3611880"/>
            <a:ext cx="512064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영향을 받는 쪽</a:t>
            </a:r>
            <a:endParaRPr lang="en-US" sz="1500" dirty="0"/>
          </a:p>
        </p:txBody>
      </p:sp>
      <p:sp>
        <p:nvSpPr>
          <p:cNvPr id="6" name="Text 4"/>
          <p:cNvSpPr txBox="1"/>
          <p:nvPr/>
        </p:nvSpPr>
        <p:spPr>
          <a:xfrm>
            <a:off x="548640" y="3950208"/>
            <a:ext cx="5120640" cy="77724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경쟁 비교쇼핑 서비스로 가는 검색 유입과 거래 기회, 이용자의 선택</a:t>
            </a:r>
            <a:endParaRPr lang="en-US" sz="1600" dirty="0"/>
          </a:p>
        </p:txBody>
      </p:sp>
      <p:sp>
        <p:nvSpPr>
          <p:cNvPr id="7" name="Text 5"/>
          <p:cNvSpPr txBox="1"/>
          <p:nvPr/>
        </p:nvSpPr>
        <p:spPr>
          <a:xfrm>
            <a:off x="6263640" y="1417320"/>
            <a:ext cx="5379415" cy="320040"/>
          </a:xfrm>
          <a:prstGeom prst="rect">
            <a:avLst/>
          </a:prstGeom>
          <a:noFill/>
          <a:ln/>
        </p:spPr>
        <p:txBody>
          <a:bodyPr wrap="square" lIns="0" tIns="0" rIns="0" bIns="0" rtlCol="0" anchor="t"/>
          <a:lstStyle/>
          <a:p>
            <a:pPr indent="0" marL="0">
              <a:lnSpc>
                <a:spcPct val="110000"/>
              </a:lnSpc>
              <a:buNone/>
            </a:pPr>
            <a:r>
              <a:rPr lang="en-US" sz="1500" b="1" dirty="0">
                <a:solidFill>
                  <a:schemeClr val="accent1"/>
                </a:solidFill>
              </a:rPr>
              <a:t>진행 과정</a:t>
            </a:r>
            <a:endParaRPr lang="en-US" sz="1500" dirty="0"/>
          </a:p>
        </p:txBody>
      </p:sp>
      <p:sp>
        <p:nvSpPr>
          <p:cNvPr id="8" name="Shape 6"/>
          <p:cNvSpPr/>
          <p:nvPr/>
        </p:nvSpPr>
        <p:spPr>
          <a:xfrm>
            <a:off x="6345936" y="1984248"/>
            <a:ext cx="0" cy="1920240"/>
          </a:xfrm>
          <a:prstGeom prst="line">
            <a:avLst/>
          </a:prstGeom>
          <a:noFill/>
          <a:ln w="19050">
            <a:solidFill>
              <a:schemeClr val="accent6"/>
            </a:solidFill>
            <a:prstDash val="solid"/>
          </a:ln>
        </p:spPr>
      </p:sp>
      <p:sp>
        <p:nvSpPr>
          <p:cNvPr id="9" name="Shape 7"/>
          <p:cNvSpPr/>
          <p:nvPr/>
        </p:nvSpPr>
        <p:spPr>
          <a:xfrm>
            <a:off x="6263640" y="1901952"/>
            <a:ext cx="164592" cy="164592"/>
          </a:xfrm>
          <a:prstGeom prst="ellipse">
            <a:avLst/>
          </a:prstGeom>
          <a:solidFill>
            <a:schemeClr val="bg1"/>
          </a:solidFill>
          <a:ln w="19050">
            <a:solidFill>
              <a:schemeClr val="accent1"/>
            </a:solidFill>
            <a:prstDash val="solid"/>
          </a:ln>
        </p:spPr>
      </p:sp>
      <p:sp>
        <p:nvSpPr>
          <p:cNvPr id="10" name="Text 8"/>
          <p:cNvSpPr txBox="1"/>
          <p:nvPr/>
        </p:nvSpPr>
        <p:spPr>
          <a:xfrm>
            <a:off x="6629400" y="183794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2017. 6. 27.</a:t>
            </a:r>
            <a:endParaRPr lang="en-US" sz="1500" dirty="0"/>
          </a:p>
        </p:txBody>
      </p:sp>
      <p:sp>
        <p:nvSpPr>
          <p:cNvPr id="11" name="Text 9"/>
          <p:cNvSpPr txBox="1"/>
          <p:nvPr/>
        </p:nvSpPr>
        <p:spPr>
          <a:xfrm>
            <a:off x="6629400" y="2148840"/>
            <a:ext cx="5013655" cy="64008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유럽위원회, 과징금 약 24.2억 유로 부과</a:t>
            </a:r>
            <a:endParaRPr lang="en-US" sz="1400" dirty="0"/>
          </a:p>
        </p:txBody>
      </p:sp>
      <p:sp>
        <p:nvSpPr>
          <p:cNvPr id="12" name="Shape 10"/>
          <p:cNvSpPr/>
          <p:nvPr/>
        </p:nvSpPr>
        <p:spPr>
          <a:xfrm>
            <a:off x="6263640" y="2862072"/>
            <a:ext cx="164592" cy="164592"/>
          </a:xfrm>
          <a:prstGeom prst="ellipse">
            <a:avLst/>
          </a:prstGeom>
          <a:solidFill>
            <a:schemeClr val="bg1"/>
          </a:solidFill>
          <a:ln w="19050">
            <a:solidFill>
              <a:schemeClr val="accent1"/>
            </a:solidFill>
            <a:prstDash val="solid"/>
          </a:ln>
        </p:spPr>
      </p:sp>
      <p:sp>
        <p:nvSpPr>
          <p:cNvPr id="13" name="Text 11"/>
          <p:cNvSpPr txBox="1"/>
          <p:nvPr/>
        </p:nvSpPr>
        <p:spPr>
          <a:xfrm>
            <a:off x="6629400" y="279806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2021. 11. 10.</a:t>
            </a:r>
            <a:endParaRPr lang="en-US" sz="1500" dirty="0"/>
          </a:p>
        </p:txBody>
      </p:sp>
      <p:sp>
        <p:nvSpPr>
          <p:cNvPr id="14" name="Text 12"/>
          <p:cNvSpPr txBox="1"/>
          <p:nvPr/>
        </p:nvSpPr>
        <p:spPr>
          <a:xfrm>
            <a:off x="6629400" y="3108960"/>
            <a:ext cx="5013655" cy="64008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EU 일반법원, 비교쇼핑 관련 판단과 과징금 유지</a:t>
            </a:r>
            <a:endParaRPr lang="en-US" sz="1400" dirty="0"/>
          </a:p>
        </p:txBody>
      </p:sp>
      <p:sp>
        <p:nvSpPr>
          <p:cNvPr id="15" name="Shape 13"/>
          <p:cNvSpPr/>
          <p:nvPr/>
        </p:nvSpPr>
        <p:spPr>
          <a:xfrm>
            <a:off x="6263640" y="3822192"/>
            <a:ext cx="164592" cy="164592"/>
          </a:xfrm>
          <a:prstGeom prst="ellipse">
            <a:avLst/>
          </a:prstGeom>
          <a:solidFill>
            <a:schemeClr val="accent1"/>
          </a:solidFill>
          <a:ln w="19050">
            <a:solidFill>
              <a:schemeClr val="accent1"/>
            </a:solidFill>
            <a:prstDash val="solid"/>
          </a:ln>
        </p:spPr>
      </p:sp>
      <p:sp>
        <p:nvSpPr>
          <p:cNvPr id="16" name="Text 14"/>
          <p:cNvSpPr txBox="1"/>
          <p:nvPr/>
        </p:nvSpPr>
        <p:spPr>
          <a:xfrm>
            <a:off x="6629400" y="3758184"/>
            <a:ext cx="5013655" cy="292608"/>
          </a:xfrm>
          <a:prstGeom prst="rect">
            <a:avLst/>
          </a:prstGeom>
          <a:noFill/>
          <a:ln/>
        </p:spPr>
        <p:txBody>
          <a:bodyPr wrap="square" lIns="0" tIns="0" rIns="0" bIns="0" rtlCol="0" anchor="t"/>
          <a:lstStyle/>
          <a:p>
            <a:pPr indent="0" marL="0">
              <a:lnSpc>
                <a:spcPct val="110000"/>
              </a:lnSpc>
              <a:buNone/>
            </a:pPr>
            <a:r>
              <a:rPr lang="en-US" sz="1500" b="1" dirty="0">
                <a:solidFill>
                  <a:schemeClr val="tx1"/>
                </a:solidFill>
              </a:rPr>
              <a:t>2024. 9. 10.</a:t>
            </a:r>
            <a:endParaRPr lang="en-US" sz="1500" dirty="0"/>
          </a:p>
        </p:txBody>
      </p:sp>
      <p:sp>
        <p:nvSpPr>
          <p:cNvPr id="17" name="Text 15"/>
          <p:cNvSpPr txBox="1"/>
          <p:nvPr/>
        </p:nvSpPr>
        <p:spPr>
          <a:xfrm>
            <a:off x="6629400" y="4069080"/>
            <a:ext cx="5013655" cy="64008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EU 사법재판소, 구글 항소 기각</a:t>
            </a:r>
            <a:endParaRPr lang="en-US" sz="1400" dirty="0"/>
          </a:p>
        </p:txBody>
      </p:sp>
      <p:sp>
        <p:nvSpPr>
          <p:cNvPr id="18" name="Shape 16"/>
          <p:cNvSpPr/>
          <p:nvPr/>
        </p:nvSpPr>
        <p:spPr>
          <a:xfrm>
            <a:off x="548640" y="4983480"/>
            <a:ext cx="11094415" cy="868680"/>
          </a:xfrm>
          <a:prstGeom prst="rect">
            <a:avLst/>
          </a:prstGeom>
          <a:solidFill>
            <a:schemeClr val="accent3"/>
          </a:solidFill>
          <a:ln/>
        </p:spPr>
      </p:sp>
      <p:sp>
        <p:nvSpPr>
          <p:cNvPr id="19" name="Text 17"/>
          <p:cNvSpPr txBox="1"/>
          <p:nvPr/>
        </p:nvSpPr>
        <p:spPr>
          <a:xfrm>
            <a:off x="868680" y="4983480"/>
            <a:ext cx="10454335" cy="868680"/>
          </a:xfrm>
          <a:prstGeom prst="rect">
            <a:avLst/>
          </a:prstGeom>
          <a:noFill/>
          <a:ln/>
        </p:spPr>
        <p:txBody>
          <a:bodyPr wrap="square" lIns="0" tIns="0" rIns="0" bIns="0" rtlCol="0" anchor="ctr"/>
          <a:lstStyle/>
          <a:p>
            <a:pPr indent="0" marL="0">
              <a:lnSpc>
                <a:spcPct val="110000"/>
              </a:lnSpc>
              <a:buNone/>
            </a:pPr>
            <a:r>
              <a:rPr lang="en-US" sz="1700" b="1" dirty="0">
                <a:solidFill>
                  <a:schemeClr val="accent1"/>
                </a:solidFill>
              </a:rPr>
              <a:t>정리   </a:t>
            </a:r>
            <a:pPr indent="0" marL="0">
              <a:lnSpc>
                <a:spcPct val="110000"/>
              </a:lnSpc>
              <a:buNone/>
            </a:pPr>
            <a:r>
              <a:rPr lang="en-US" sz="1700" b="1" dirty="0">
                <a:solidFill>
                  <a:schemeClr val="tx1"/>
                </a:solidFill>
              </a:rPr>
              <a:t>지배적 검색 사업자의 자사우대가 최종심에서 위법으로 확정된 사례</a:t>
            </a:r>
            <a:endParaRPr lang="en-US" sz="1700" dirty="0"/>
          </a:p>
        </p:txBody>
      </p:sp>
      <p:sp>
        <p:nvSpPr>
          <p:cNvPr id="20" name="Text 18"/>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EU 사법재판소 보도자료(2024.9.10.)</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세 사례 비교: 어느 단계의 문제였나</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4480560"/>
                <a:gridCol w="4510735"/>
              </a:tblGrid>
              <a:tr h="457200">
                <a:tc>
                  <a:txBody>
                    <a:bodyPr/>
                    <a:lstStyle/>
                    <a:p>
                      <a:pPr indent="0" marL="0">
                        <a:buNone/>
                      </a:pPr>
                      <a:r>
                        <a:rPr lang="en-US" sz="1500" b="1" dirty="0">
                          <a:solidFill>
                            <a:schemeClr val="tx1"/>
                          </a:solidFill>
                        </a:rPr>
                        <a:t>사례</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무엇이 문제였나</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어디까지 진행됐나</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621792">
                <a:tc>
                  <a:txBody>
                    <a:bodyPr/>
                    <a:lstStyle/>
                    <a:p>
                      <a:pPr indent="0" marL="0">
                        <a:buNone/>
                      </a:pPr>
                      <a:r>
                        <a:rPr lang="en-US" sz="1700" b="1" dirty="0">
                          <a:solidFill>
                            <a:schemeClr val="tx1"/>
                          </a:solidFill>
                        </a:rPr>
                        <a:t>배민-요기요</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경쟁자가 줄어드는 기업결합</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조건부 승인 → 요기요 매각 완료</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621792">
                <a:tc>
                  <a:txBody>
                    <a:bodyPr/>
                    <a:lstStyle/>
                    <a:p>
                      <a:pPr indent="0" marL="0">
                        <a:buNone/>
                      </a:pPr>
                      <a:r>
                        <a:rPr lang="en-US" sz="1700" b="1" dirty="0">
                          <a:solidFill>
                            <a:schemeClr val="tx1"/>
                          </a:solidFill>
                        </a:rPr>
                        <a:t>쿠팡</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운영자 상품과 입점 상품 사이의 이해충돌</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공정위 제재 → 불복 소송 중</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621792">
                <a:tc>
                  <a:txBody>
                    <a:bodyPr/>
                    <a:lstStyle/>
                    <a:p>
                      <a:pPr indent="0" marL="0">
                        <a:buNone/>
                      </a:pPr>
                      <a:r>
                        <a:rPr lang="en-US" sz="1700" b="1" dirty="0">
                          <a:solidFill>
                            <a:schemeClr val="tx1"/>
                          </a:solidFill>
                        </a:rPr>
                        <a:t>구글 쇼핑</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지배적 검색 서비스의 자사우대</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최종심에서 결정 유지 (2024)</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4" name="Text 1"/>
          <p:cNvSpPr txBox="1"/>
          <p:nvPr/>
        </p:nvSpPr>
        <p:spPr>
          <a:xfrm>
            <a:off x="548640" y="4023360"/>
            <a:ext cx="731520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5"/>
                </a:solidFill>
              </a:rPr>
              <a:t>4번의 세 단계로 나눠 보면</a:t>
            </a:r>
            <a:endParaRPr lang="en-US" sz="1500" dirty="0"/>
          </a:p>
        </p:txBody>
      </p:sp>
      <p:sp>
        <p:nvSpPr>
          <p:cNvPr id="5" name="Text 2"/>
          <p:cNvSpPr/>
          <p:nvPr/>
        </p:nvSpPr>
        <p:spPr>
          <a:xfrm>
            <a:off x="548640" y="4434840"/>
            <a:ext cx="3776472" cy="594360"/>
          </a:xfrm>
          <a:prstGeom prst="homePlate">
            <a:avLst/>
          </a:prstGeom>
          <a:solidFill>
            <a:schemeClr val="bg2"/>
          </a:solidFill>
          <a:ln/>
        </p:spPr>
        <p:txBody>
          <a:bodyPr wrap="square" lIns="0" tIns="0" rIns="0" bIns="0" rtlCol="0" anchor="ctr"/>
          <a:lstStyle/>
          <a:p>
            <a:pPr algn="ctr" indent="0" marL="0">
              <a:buNone/>
            </a:pPr>
            <a:r>
              <a:rPr lang="en-US" sz="1600" b="1" dirty="0">
                <a:solidFill>
                  <a:schemeClr val="tx1"/>
                </a:solidFill>
              </a:rPr>
              <a:t>1  시장구조</a:t>
            </a:r>
            <a:endParaRPr lang="en-US" sz="1600" dirty="0"/>
          </a:p>
        </p:txBody>
      </p:sp>
      <p:sp>
        <p:nvSpPr>
          <p:cNvPr id="6" name="Text 3"/>
          <p:cNvSpPr/>
          <p:nvPr/>
        </p:nvSpPr>
        <p:spPr>
          <a:xfrm>
            <a:off x="4206240" y="4434840"/>
            <a:ext cx="3776472" cy="594360"/>
          </a:xfrm>
          <a:prstGeom prst="chevron">
            <a:avLst/>
          </a:prstGeom>
          <a:solidFill>
            <a:schemeClr val="accent3"/>
          </a:solidFill>
          <a:ln/>
        </p:spPr>
        <p:txBody>
          <a:bodyPr wrap="square" lIns="0" tIns="0" rIns="0" bIns="0" rtlCol="0" anchor="ctr"/>
          <a:lstStyle/>
          <a:p>
            <a:pPr algn="ctr" indent="0" marL="0">
              <a:buNone/>
            </a:pPr>
            <a:r>
              <a:rPr lang="en-US" sz="1600" b="1" dirty="0">
                <a:solidFill>
                  <a:schemeClr val="tx1"/>
                </a:solidFill>
              </a:rPr>
              <a:t>2  시장지배력</a:t>
            </a:r>
            <a:endParaRPr lang="en-US" sz="1600" dirty="0"/>
          </a:p>
        </p:txBody>
      </p:sp>
      <p:sp>
        <p:nvSpPr>
          <p:cNvPr id="7" name="Text 4"/>
          <p:cNvSpPr/>
          <p:nvPr/>
        </p:nvSpPr>
        <p:spPr>
          <a:xfrm>
            <a:off x="7863840" y="4434840"/>
            <a:ext cx="3776472" cy="594360"/>
          </a:xfrm>
          <a:prstGeom prst="chevron">
            <a:avLst/>
          </a:prstGeom>
          <a:solidFill>
            <a:schemeClr val="accent1"/>
          </a:solidFill>
          <a:ln/>
        </p:spPr>
        <p:txBody>
          <a:bodyPr wrap="square" lIns="0" tIns="0" rIns="0" bIns="0" rtlCol="0" anchor="ctr"/>
          <a:lstStyle/>
          <a:p>
            <a:pPr algn="ctr" indent="0" marL="0">
              <a:buNone/>
            </a:pPr>
            <a:r>
              <a:rPr lang="en-US" sz="1600" b="1" dirty="0">
                <a:solidFill>
                  <a:schemeClr val="bg1"/>
                </a:solidFill>
              </a:rPr>
              <a:t>3  문제 행위와 법적 판단</a:t>
            </a:r>
            <a:endParaRPr lang="en-US" sz="1600" dirty="0"/>
          </a:p>
        </p:txBody>
      </p:sp>
      <p:sp>
        <p:nvSpPr>
          <p:cNvPr id="8" name="Text 5"/>
          <p:cNvSpPr txBox="1"/>
          <p:nvPr/>
        </p:nvSpPr>
        <p:spPr>
          <a:xfrm>
            <a:off x="548640" y="5166360"/>
            <a:ext cx="3776472" cy="411480"/>
          </a:xfrm>
          <a:prstGeom prst="rect">
            <a:avLst/>
          </a:prstGeom>
          <a:noFill/>
          <a:ln/>
        </p:spPr>
        <p:txBody>
          <a:bodyPr wrap="square" lIns="0" tIns="0" rIns="0" bIns="0" rtlCol="0" anchor="t"/>
          <a:lstStyle/>
          <a:p>
            <a:pPr algn="ctr" indent="0" marL="0">
              <a:lnSpc>
                <a:spcPct val="110000"/>
              </a:lnSpc>
              <a:buNone/>
            </a:pPr>
            <a:r>
              <a:rPr lang="en-US" sz="1800" b="1" dirty="0">
                <a:solidFill>
                  <a:schemeClr val="tx1"/>
                </a:solidFill>
              </a:rPr>
              <a:t>배민-요기요</a:t>
            </a:r>
            <a:endParaRPr lang="en-US" sz="1800" dirty="0"/>
          </a:p>
        </p:txBody>
      </p:sp>
      <p:sp>
        <p:nvSpPr>
          <p:cNvPr id="9" name="Text 6"/>
          <p:cNvSpPr txBox="1"/>
          <p:nvPr/>
        </p:nvSpPr>
        <p:spPr>
          <a:xfrm>
            <a:off x="4206240" y="5166360"/>
            <a:ext cx="3776472" cy="411480"/>
          </a:xfrm>
          <a:prstGeom prst="rect">
            <a:avLst/>
          </a:prstGeom>
          <a:noFill/>
          <a:ln/>
        </p:spPr>
        <p:txBody>
          <a:bodyPr wrap="square" lIns="0" tIns="0" rIns="0" bIns="0" rtlCol="0" anchor="t"/>
          <a:lstStyle/>
          <a:p>
            <a:pPr algn="ctr" indent="0" marL="0">
              <a:lnSpc>
                <a:spcPct val="110000"/>
              </a:lnSpc>
              <a:buNone/>
            </a:pPr>
            <a:r>
              <a:rPr lang="en-US" sz="1800" b="1" dirty="0">
                <a:solidFill>
                  <a:schemeClr val="tx1"/>
                </a:solidFill>
              </a:rPr>
              <a:t>구글 쇼핑</a:t>
            </a:r>
            <a:endParaRPr lang="en-US" sz="1800" dirty="0"/>
          </a:p>
        </p:txBody>
      </p:sp>
      <p:sp>
        <p:nvSpPr>
          <p:cNvPr id="10" name="Text 7"/>
          <p:cNvSpPr txBox="1"/>
          <p:nvPr/>
        </p:nvSpPr>
        <p:spPr>
          <a:xfrm>
            <a:off x="7863840" y="5166360"/>
            <a:ext cx="3776472" cy="411480"/>
          </a:xfrm>
          <a:prstGeom prst="rect">
            <a:avLst/>
          </a:prstGeom>
          <a:noFill/>
          <a:ln/>
        </p:spPr>
        <p:txBody>
          <a:bodyPr wrap="square" lIns="0" tIns="0" rIns="0" bIns="0" rtlCol="0" anchor="t"/>
          <a:lstStyle/>
          <a:p>
            <a:pPr algn="ctr" indent="0" marL="0">
              <a:lnSpc>
                <a:spcPct val="110000"/>
              </a:lnSpc>
              <a:buNone/>
            </a:pPr>
            <a:r>
              <a:rPr lang="en-US" sz="1800" b="1" dirty="0">
                <a:solidFill>
                  <a:schemeClr val="tx1"/>
                </a:solidFill>
              </a:rPr>
              <a:t>쿠팡, 구글 쇼핑</a:t>
            </a:r>
            <a:endParaRPr lang="en-US" sz="1800" dirty="0"/>
          </a:p>
        </p:txBody>
      </p:sp>
      <p:sp>
        <p:nvSpPr>
          <p:cNvPr id="11" name="Text 8"/>
          <p:cNvSpPr txBox="1"/>
          <p:nvPr/>
        </p:nvSpPr>
        <p:spPr>
          <a:xfrm>
            <a:off x="548640" y="6336792"/>
            <a:ext cx="10332720" cy="292608"/>
          </a:xfrm>
          <a:prstGeom prst="rect">
            <a:avLst/>
          </a:prstGeom>
          <a:noFill/>
          <a:ln/>
        </p:spPr>
        <p:txBody>
          <a:bodyPr wrap="square" lIns="0" tIns="0" rIns="0" bIns="0" rtlCol="0" anchor="ctr"/>
          <a:lstStyle/>
          <a:p>
            <a:pPr indent="0" marL="0">
              <a:lnSpc>
                <a:spcPct val="110000"/>
              </a:lnSpc>
              <a:buNone/>
            </a:pPr>
            <a:r>
              <a:rPr lang="en-US" sz="1000" dirty="0">
                <a:solidFill>
                  <a:schemeClr val="accent5"/>
                </a:solidFill>
              </a:rPr>
              <a:t>출처: 사례별 출처는 8~10번 슬라이드 참고</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같은 구조가 만드는 편익과 문제</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43200"/>
                <a:gridCol w="4023360"/>
                <a:gridCol w="4327855"/>
              </a:tblGrid>
              <a:tr h="502920">
                <a:tc>
                  <a:txBody>
                    <a:bodyPr/>
                    <a:lstStyle/>
                    <a:p>
                      <a:pPr indent="0" marL="0">
                        <a:buNone/>
                      </a:pPr>
                      <a:r>
                        <a:rPr lang="en-US" sz="1500" b="1" dirty="0">
                          <a:solidFill>
                            <a:schemeClr val="tx1"/>
                          </a:solidFill>
                        </a:rPr>
                        <a:t>플랫폼의 구조</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참가자에게 주는 편익</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indent="0" marL="0">
                        <a:buNone/>
                      </a:pPr>
                      <a:r>
                        <a:rPr lang="en-US" sz="1500" b="1" dirty="0">
                          <a:solidFill>
                            <a:schemeClr val="tx1"/>
                          </a:solidFill>
                        </a:rPr>
                        <a:t>거래가 몰릴 때 생길 수 있는 문제</a:t>
                      </a:r>
                      <a:endParaRPr lang="en-US" sz="15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4"/>
                    </a:solidFill>
                  </a:tcPr>
                </a:tc>
              </a:tr>
              <a:tr h="841248">
                <a:tc>
                  <a:txBody>
                    <a:bodyPr/>
                    <a:lstStyle/>
                    <a:p>
                      <a:pPr indent="0" marL="0">
                        <a:buNone/>
                      </a:pPr>
                      <a:r>
                        <a:rPr lang="en-US" sz="1700" b="1" dirty="0">
                          <a:solidFill>
                            <a:schemeClr val="tx1"/>
                          </a:solidFill>
                        </a:rPr>
                        <a:t>네트워크 효과</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선택지가 늘고 서로 만나기 쉬워짐</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후발 사업자가 양쪽 이용자를 모으기 어려움</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841248">
                <a:tc>
                  <a:txBody>
                    <a:bodyPr/>
                    <a:lstStyle/>
                    <a:p>
                      <a:pPr indent="0" marL="0">
                        <a:buNone/>
                      </a:pPr>
                      <a:r>
                        <a:rPr lang="en-US" sz="1700" b="1" dirty="0">
                          <a:solidFill>
                            <a:schemeClr val="tx1"/>
                          </a:solidFill>
                        </a:rPr>
                        <a:t>검색·추천·리뷰 운영</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탐색 비용과 정보 비대칭이 줄어듦</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노출 기준을 자사에 유리하게 바꿀 유인</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841248">
                <a:tc>
                  <a:txBody>
                    <a:bodyPr/>
                    <a:lstStyle/>
                    <a:p>
                      <a:pPr indent="0" marL="0">
                        <a:buNone/>
                      </a:pPr>
                      <a:r>
                        <a:rPr lang="en-US" sz="1700" b="1" dirty="0">
                          <a:solidFill>
                            <a:schemeClr val="tx1"/>
                          </a:solidFill>
                        </a:rPr>
                        <a:t>주문·결제·물류 통합</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거래가 편해지고 배송이 효율적</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특정 서비스 의존, 교섭력 차이</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841248">
                <a:tc>
                  <a:txBody>
                    <a:bodyPr/>
                    <a:lstStyle/>
                    <a:p>
                      <a:pPr indent="0" marL="0">
                        <a:buNone/>
                      </a:pPr>
                      <a:r>
                        <a:rPr lang="en-US" sz="1700" b="1" dirty="0">
                          <a:solidFill>
                            <a:schemeClr val="tx1"/>
                          </a:solidFill>
                        </a:rPr>
                        <a:t>중개 + 직접 판매</a:t>
                      </a:r>
                      <a:endParaRPr lang="en-US" sz="17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공급·품질·배송을 직접 관리</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600" dirty="0">
                          <a:solidFill>
                            <a:schemeClr val="tx1"/>
                          </a:solidFill>
                        </a:rPr>
                        <a:t>중개자이면서 판매자라서 생기는 이해충돌</a:t>
                      </a:r>
                      <a:endParaRPr lang="en-US" sz="1600" dirty="0"/>
                    </a:p>
                  </a:txBody>
                  <a:tcPr marL="164592" marR="164592" marT="54864" marB="54864"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어떻게 대응할 수 있을까</a:t>
            </a:r>
            <a:endParaRPr lang="en-US" sz="2800" dirty="0"/>
          </a:p>
        </p:txBody>
      </p:sp>
      <p:sp>
        <p:nvSpPr>
          <p:cNvPr id="3" name="Shape 1"/>
          <p:cNvSpPr/>
          <p:nvPr/>
        </p:nvSpPr>
        <p:spPr>
          <a:xfrm>
            <a:off x="548640" y="1417320"/>
            <a:ext cx="5387188" cy="4389120"/>
          </a:xfrm>
          <a:prstGeom prst="rect">
            <a:avLst/>
          </a:prstGeom>
          <a:solidFill>
            <a:schemeClr val="bg2"/>
          </a:solidFill>
          <a:ln/>
        </p:spPr>
      </p:sp>
      <p:sp>
        <p:nvSpPr>
          <p:cNvPr id="4" name="Text 2"/>
          <p:cNvSpPr txBox="1"/>
          <p:nvPr/>
        </p:nvSpPr>
        <p:spPr>
          <a:xfrm>
            <a:off x="914400" y="173736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1"/>
                </a:solidFill>
              </a:rPr>
              <a:t>대응 1</a:t>
            </a:r>
            <a:endParaRPr lang="en-US" sz="1400" dirty="0"/>
          </a:p>
        </p:txBody>
      </p:sp>
      <p:sp>
        <p:nvSpPr>
          <p:cNvPr id="5" name="Text 3"/>
          <p:cNvSpPr txBox="1"/>
          <p:nvPr/>
        </p:nvSpPr>
        <p:spPr>
          <a:xfrm>
            <a:off x="914400" y="2057400"/>
            <a:ext cx="4655668" cy="457200"/>
          </a:xfrm>
          <a:prstGeom prst="rect">
            <a:avLst/>
          </a:prstGeom>
          <a:noFill/>
          <a:ln/>
        </p:spPr>
        <p:txBody>
          <a:bodyPr wrap="square" lIns="0" tIns="0" rIns="0" bIns="0" rtlCol="0" anchor="t"/>
          <a:lstStyle/>
          <a:p>
            <a:pPr indent="0" marL="0">
              <a:lnSpc>
                <a:spcPct val="110000"/>
              </a:lnSpc>
              <a:buNone/>
            </a:pPr>
            <a:r>
              <a:rPr lang="en-US" sz="2100" b="1" dirty="0">
                <a:solidFill>
                  <a:schemeClr val="tx1"/>
                </a:solidFill>
              </a:rPr>
              <a:t>기업결합 심사와 매각 조건</a:t>
            </a:r>
            <a:endParaRPr lang="en-US" sz="2100" dirty="0"/>
          </a:p>
        </p:txBody>
      </p:sp>
      <p:sp>
        <p:nvSpPr>
          <p:cNvPr id="6" name="Text 4"/>
          <p:cNvSpPr txBox="1"/>
          <p:nvPr/>
        </p:nvSpPr>
        <p:spPr>
          <a:xfrm>
            <a:off x="914400" y="2560320"/>
            <a:ext cx="4655668" cy="292608"/>
          </a:xfrm>
          <a:prstGeom prst="rect">
            <a:avLst/>
          </a:prstGeom>
          <a:noFill/>
          <a:ln/>
        </p:spPr>
        <p:txBody>
          <a:bodyPr wrap="square" lIns="0" tIns="0" rIns="0" bIns="0" rtlCol="0" anchor="t"/>
          <a:lstStyle/>
          <a:p>
            <a:pPr indent="0" marL="0">
              <a:lnSpc>
                <a:spcPct val="110000"/>
              </a:lnSpc>
              <a:buNone/>
            </a:pPr>
            <a:r>
              <a:rPr lang="en-US" sz="1300" dirty="0">
                <a:solidFill>
                  <a:schemeClr val="accent5"/>
                </a:solidFill>
              </a:rPr>
              <a:t>배민-요기요 사례에서 쓰인 방식</a:t>
            </a:r>
            <a:endParaRPr lang="en-US" sz="1300" dirty="0"/>
          </a:p>
        </p:txBody>
      </p:sp>
      <p:sp>
        <p:nvSpPr>
          <p:cNvPr id="7" name="Text 5"/>
          <p:cNvSpPr txBox="1"/>
          <p:nvPr/>
        </p:nvSpPr>
        <p:spPr>
          <a:xfrm>
            <a:off x="914400" y="315468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1"/>
                </a:solidFill>
              </a:rPr>
              <a:t>기대효과</a:t>
            </a:r>
            <a:endParaRPr lang="en-US" sz="1400" dirty="0"/>
          </a:p>
        </p:txBody>
      </p:sp>
      <p:sp>
        <p:nvSpPr>
          <p:cNvPr id="8" name="Text 6"/>
          <p:cNvSpPr txBox="1"/>
          <p:nvPr/>
        </p:nvSpPr>
        <p:spPr>
          <a:xfrm>
            <a:off x="914400" y="3474720"/>
            <a:ext cx="4655668" cy="73152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경쟁자와 거래 상대의 선택지를 지킬 수 있음</a:t>
            </a:r>
            <a:endParaRPr lang="en-US" sz="1700" dirty="0"/>
          </a:p>
        </p:txBody>
      </p:sp>
      <p:sp>
        <p:nvSpPr>
          <p:cNvPr id="9" name="Text 7"/>
          <p:cNvSpPr txBox="1"/>
          <p:nvPr/>
        </p:nvSpPr>
        <p:spPr>
          <a:xfrm>
            <a:off x="914400" y="434340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2"/>
                </a:solidFill>
              </a:rPr>
              <a:t>한계</a:t>
            </a:r>
            <a:endParaRPr lang="en-US" sz="1400" dirty="0"/>
          </a:p>
        </p:txBody>
      </p:sp>
      <p:sp>
        <p:nvSpPr>
          <p:cNvPr id="10" name="Text 8"/>
          <p:cNvSpPr txBox="1"/>
          <p:nvPr/>
        </p:nvSpPr>
        <p:spPr>
          <a:xfrm>
            <a:off x="914400" y="4663440"/>
            <a:ext cx="4655668" cy="91440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효율성이나 서비스 개선 효과와 함께 따져야 함</a:t>
            </a:r>
            <a:endParaRPr lang="en-US" sz="1700" dirty="0"/>
          </a:p>
        </p:txBody>
      </p:sp>
      <p:sp>
        <p:nvSpPr>
          <p:cNvPr id="11" name="Shape 9"/>
          <p:cNvSpPr/>
          <p:nvPr/>
        </p:nvSpPr>
        <p:spPr>
          <a:xfrm>
            <a:off x="6255868" y="1417320"/>
            <a:ext cx="5387188" cy="4389120"/>
          </a:xfrm>
          <a:prstGeom prst="rect">
            <a:avLst/>
          </a:prstGeom>
          <a:solidFill>
            <a:schemeClr val="bg2"/>
          </a:solidFill>
          <a:ln/>
        </p:spPr>
      </p:sp>
      <p:sp>
        <p:nvSpPr>
          <p:cNvPr id="12" name="Text 10"/>
          <p:cNvSpPr txBox="1"/>
          <p:nvPr/>
        </p:nvSpPr>
        <p:spPr>
          <a:xfrm>
            <a:off x="6621628" y="173736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1"/>
                </a:solidFill>
              </a:rPr>
              <a:t>대응 2</a:t>
            </a:r>
            <a:endParaRPr lang="en-US" sz="1400" dirty="0"/>
          </a:p>
        </p:txBody>
      </p:sp>
      <p:sp>
        <p:nvSpPr>
          <p:cNvPr id="13" name="Text 11"/>
          <p:cNvSpPr txBox="1"/>
          <p:nvPr/>
        </p:nvSpPr>
        <p:spPr>
          <a:xfrm>
            <a:off x="6621628" y="2057400"/>
            <a:ext cx="4655668" cy="457200"/>
          </a:xfrm>
          <a:prstGeom prst="rect">
            <a:avLst/>
          </a:prstGeom>
          <a:noFill/>
          <a:ln/>
        </p:spPr>
        <p:txBody>
          <a:bodyPr wrap="square" lIns="0" tIns="0" rIns="0" bIns="0" rtlCol="0" anchor="t"/>
          <a:lstStyle/>
          <a:p>
            <a:pPr indent="0" marL="0">
              <a:lnSpc>
                <a:spcPct val="110000"/>
              </a:lnSpc>
              <a:buNone/>
            </a:pPr>
            <a:r>
              <a:rPr lang="en-US" sz="2100" b="1" dirty="0">
                <a:solidFill>
                  <a:schemeClr val="tx1"/>
                </a:solidFill>
              </a:rPr>
              <a:t>검색·노출 규칙과 거래조건의 투명성</a:t>
            </a:r>
            <a:endParaRPr lang="en-US" sz="2100" dirty="0"/>
          </a:p>
        </p:txBody>
      </p:sp>
      <p:sp>
        <p:nvSpPr>
          <p:cNvPr id="14" name="Text 12"/>
          <p:cNvSpPr txBox="1"/>
          <p:nvPr/>
        </p:nvSpPr>
        <p:spPr>
          <a:xfrm>
            <a:off x="6621628" y="2560320"/>
            <a:ext cx="4655668" cy="292608"/>
          </a:xfrm>
          <a:prstGeom prst="rect">
            <a:avLst/>
          </a:prstGeom>
          <a:noFill/>
          <a:ln/>
        </p:spPr>
        <p:txBody>
          <a:bodyPr wrap="square" lIns="0" tIns="0" rIns="0" bIns="0" rtlCol="0" anchor="t"/>
          <a:lstStyle/>
          <a:p>
            <a:pPr indent="0" marL="0">
              <a:lnSpc>
                <a:spcPct val="110000"/>
              </a:lnSpc>
              <a:buNone/>
            </a:pPr>
            <a:r>
              <a:rPr lang="en-US" sz="1300" dirty="0">
                <a:solidFill>
                  <a:schemeClr val="accent5"/>
                </a:solidFill>
              </a:rPr>
              <a:t>쿠팡·구글 사례, 배달 정산과 연결</a:t>
            </a:r>
            <a:endParaRPr lang="en-US" sz="1300" dirty="0"/>
          </a:p>
        </p:txBody>
      </p:sp>
      <p:sp>
        <p:nvSpPr>
          <p:cNvPr id="15" name="Text 13"/>
          <p:cNvSpPr txBox="1"/>
          <p:nvPr/>
        </p:nvSpPr>
        <p:spPr>
          <a:xfrm>
            <a:off x="6621628" y="315468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1"/>
                </a:solidFill>
              </a:rPr>
              <a:t>기대효과</a:t>
            </a:r>
            <a:endParaRPr lang="en-US" sz="1400" dirty="0"/>
          </a:p>
        </p:txBody>
      </p:sp>
      <p:sp>
        <p:nvSpPr>
          <p:cNvPr id="16" name="Text 14"/>
          <p:cNvSpPr txBox="1"/>
          <p:nvPr/>
        </p:nvSpPr>
        <p:spPr>
          <a:xfrm>
            <a:off x="6621628" y="3474720"/>
            <a:ext cx="4655668" cy="73152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노출 이유와 실제 부담·할인 주체를 비교 가능</a:t>
            </a:r>
            <a:endParaRPr lang="en-US" sz="1700" dirty="0"/>
          </a:p>
        </p:txBody>
      </p:sp>
      <p:sp>
        <p:nvSpPr>
          <p:cNvPr id="17" name="Text 15"/>
          <p:cNvSpPr txBox="1"/>
          <p:nvPr/>
        </p:nvSpPr>
        <p:spPr>
          <a:xfrm>
            <a:off x="6621628" y="4343400"/>
            <a:ext cx="4655668" cy="292608"/>
          </a:xfrm>
          <a:prstGeom prst="rect">
            <a:avLst/>
          </a:prstGeom>
          <a:noFill/>
          <a:ln/>
        </p:spPr>
        <p:txBody>
          <a:bodyPr wrap="square" lIns="0" tIns="0" rIns="0" bIns="0" rtlCol="0" anchor="t"/>
          <a:lstStyle/>
          <a:p>
            <a:pPr indent="0" marL="0">
              <a:lnSpc>
                <a:spcPct val="110000"/>
              </a:lnSpc>
              <a:buNone/>
            </a:pPr>
            <a:r>
              <a:rPr lang="en-US" sz="1400" b="1" dirty="0">
                <a:solidFill>
                  <a:schemeClr val="accent2"/>
                </a:solidFill>
              </a:rPr>
              <a:t>한계</a:t>
            </a:r>
            <a:endParaRPr lang="en-US" sz="1400" dirty="0"/>
          </a:p>
        </p:txBody>
      </p:sp>
      <p:sp>
        <p:nvSpPr>
          <p:cNvPr id="18" name="Text 16"/>
          <p:cNvSpPr txBox="1"/>
          <p:nvPr/>
        </p:nvSpPr>
        <p:spPr>
          <a:xfrm>
            <a:off x="6621628" y="4663440"/>
            <a:ext cx="4655668" cy="91440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영업비밀, 조작 방지와 균형이 필요하고, 공개만으로 부담이 줄어든다는 보장은 없음</a:t>
            </a:r>
            <a:endParaRPr lang="en-US" sz="17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2800" b="1" dirty="0">
                <a:solidFill>
                  <a:schemeClr val="tx1"/>
                </a:solidFill>
              </a:rPr>
              <a:t>결론</a:t>
            </a:r>
            <a:endParaRPr lang="en-US" sz="2800" dirty="0"/>
          </a:p>
        </p:txBody>
      </p:sp>
      <p:sp>
        <p:nvSpPr>
          <p:cNvPr id="3" name="Text 1"/>
          <p:cNvSpPr txBox="1"/>
          <p:nvPr/>
        </p:nvSpPr>
        <p:spPr>
          <a:xfrm>
            <a:off x="548640" y="1417320"/>
            <a:ext cx="11094415" cy="1188720"/>
          </a:xfrm>
          <a:prstGeom prst="rect">
            <a:avLst/>
          </a:prstGeom>
          <a:noFill/>
          <a:ln/>
        </p:spPr>
        <p:txBody>
          <a:bodyPr wrap="square" lIns="0" tIns="0" rIns="0" bIns="0" rtlCol="0" anchor="t"/>
          <a:lstStyle/>
          <a:p>
            <a:pPr indent="0" marL="0">
              <a:lnSpc>
                <a:spcPct val="125000"/>
              </a:lnSpc>
              <a:buNone/>
            </a:pPr>
            <a:r>
              <a:rPr lang="en-US" sz="2800" b="1" dirty="0">
                <a:solidFill>
                  <a:schemeClr val="accent1"/>
                </a:solidFill>
              </a:rPr>
              <a:t>플랫폼 문제는 ‘얼마나 큰가’보다</a:t>
            </a:r>
            <a:endParaRPr lang="en-US" sz="2800" dirty="0"/>
          </a:p>
          <a:p>
            <a:pPr indent="0" marL="0">
              <a:lnSpc>
                <a:spcPct val="125000"/>
              </a:lnSpc>
              <a:buNone/>
            </a:pPr>
            <a:r>
              <a:rPr lang="en-US" sz="2800" b="1" dirty="0">
                <a:solidFill>
                  <a:schemeClr val="accent1"/>
                </a:solidFill>
              </a:rPr>
              <a:t>‘경쟁을 어떻게 막는가’로 봐야 함</a:t>
            </a:r>
            <a:endParaRPr lang="en-US" sz="2800" dirty="0"/>
          </a:p>
        </p:txBody>
      </p:sp>
      <p:sp>
        <p:nvSpPr>
          <p:cNvPr id="4" name="Text 2"/>
          <p:cNvSpPr txBox="1"/>
          <p:nvPr/>
        </p:nvSpPr>
        <p:spPr>
          <a:xfrm>
            <a:off x="548640" y="2926080"/>
            <a:ext cx="5486400" cy="320040"/>
          </a:xfrm>
          <a:prstGeom prst="rect">
            <a:avLst/>
          </a:prstGeom>
          <a:noFill/>
          <a:ln/>
        </p:spPr>
        <p:txBody>
          <a:bodyPr wrap="square" lIns="0" tIns="0" rIns="0" bIns="0" rtlCol="0" anchor="t"/>
          <a:lstStyle/>
          <a:p>
            <a:pPr indent="0" marL="0">
              <a:lnSpc>
                <a:spcPct val="110000"/>
              </a:lnSpc>
              <a:buNone/>
            </a:pPr>
            <a:r>
              <a:rPr lang="en-US" sz="1500" b="1" dirty="0">
                <a:solidFill>
                  <a:schemeClr val="accent5"/>
                </a:solidFill>
              </a:rPr>
              <a:t>점검할 질문</a:t>
            </a:r>
            <a:endParaRPr lang="en-US" sz="1500" dirty="0"/>
          </a:p>
        </p:txBody>
      </p:sp>
      <p:sp>
        <p:nvSpPr>
          <p:cNvPr id="5" name="Shape 3"/>
          <p:cNvSpPr/>
          <p:nvPr/>
        </p:nvSpPr>
        <p:spPr>
          <a:xfrm>
            <a:off x="548640" y="3337560"/>
            <a:ext cx="5387188" cy="1234440"/>
          </a:xfrm>
          <a:prstGeom prst="rect">
            <a:avLst/>
          </a:prstGeom>
          <a:solidFill>
            <a:schemeClr val="bg2"/>
          </a:solidFill>
          <a:ln/>
        </p:spPr>
      </p:sp>
      <p:sp>
        <p:nvSpPr>
          <p:cNvPr id="6" name="Text 4"/>
          <p:cNvSpPr txBox="1"/>
          <p:nvPr/>
        </p:nvSpPr>
        <p:spPr>
          <a:xfrm>
            <a:off x="868680" y="3547872"/>
            <a:ext cx="4747108" cy="914400"/>
          </a:xfrm>
          <a:prstGeom prst="rect">
            <a:avLst/>
          </a:prstGeom>
          <a:noFill/>
          <a:ln/>
        </p:spPr>
        <p:txBody>
          <a:bodyPr wrap="square" lIns="0" tIns="0" rIns="0" bIns="0" rtlCol="0" anchor="t"/>
          <a:lstStyle/>
          <a:p>
            <a:pPr indent="0" marL="0">
              <a:lnSpc>
                <a:spcPct val="120000"/>
              </a:lnSpc>
              <a:buNone/>
            </a:pPr>
            <a:r>
              <a:rPr lang="en-US" sz="1500" b="1" dirty="0">
                <a:solidFill>
                  <a:schemeClr val="accent1"/>
                </a:solidFill>
              </a:rPr>
              <a:t>선택권</a:t>
            </a:r>
            <a:endParaRPr lang="en-US" sz="1600" dirty="0"/>
          </a:p>
          <a:p>
            <a:pPr indent="0" marL="0">
              <a:lnSpc>
                <a:spcPct val="120000"/>
              </a:lnSpc>
              <a:buNone/>
            </a:pPr>
            <a:r>
              <a:rPr lang="en-US" sz="1800" dirty="0">
                <a:solidFill>
                  <a:schemeClr val="tx1"/>
                </a:solidFill>
              </a:rPr>
              <a:t>참가자가 거래 조건을 이해하고, 다른 선택지를 가질 수 있는가?</a:t>
            </a:r>
            <a:endParaRPr lang="en-US" sz="1600" dirty="0"/>
          </a:p>
        </p:txBody>
      </p:sp>
      <p:sp>
        <p:nvSpPr>
          <p:cNvPr id="7" name="Shape 5"/>
          <p:cNvSpPr/>
          <p:nvPr/>
        </p:nvSpPr>
        <p:spPr>
          <a:xfrm>
            <a:off x="6255868" y="3337560"/>
            <a:ext cx="5387188" cy="1234440"/>
          </a:xfrm>
          <a:prstGeom prst="rect">
            <a:avLst/>
          </a:prstGeom>
          <a:solidFill>
            <a:schemeClr val="bg2"/>
          </a:solidFill>
          <a:ln/>
        </p:spPr>
      </p:sp>
      <p:sp>
        <p:nvSpPr>
          <p:cNvPr id="8" name="Text 6"/>
          <p:cNvSpPr txBox="1"/>
          <p:nvPr/>
        </p:nvSpPr>
        <p:spPr>
          <a:xfrm>
            <a:off x="6575908" y="3547872"/>
            <a:ext cx="4747108" cy="914400"/>
          </a:xfrm>
          <a:prstGeom prst="rect">
            <a:avLst/>
          </a:prstGeom>
          <a:noFill/>
          <a:ln/>
        </p:spPr>
        <p:txBody>
          <a:bodyPr wrap="square" lIns="0" tIns="0" rIns="0" bIns="0" rtlCol="0" anchor="t"/>
          <a:lstStyle/>
          <a:p>
            <a:pPr indent="0" marL="0">
              <a:lnSpc>
                <a:spcPct val="120000"/>
              </a:lnSpc>
              <a:buNone/>
            </a:pPr>
            <a:r>
              <a:rPr lang="en-US" sz="1500" b="1" dirty="0">
                <a:solidFill>
                  <a:schemeClr val="accent1"/>
                </a:solidFill>
              </a:rPr>
              <a:t>공정한 규칙</a:t>
            </a:r>
            <a:endParaRPr lang="en-US" sz="1600" dirty="0"/>
          </a:p>
          <a:p>
            <a:pPr indent="0" marL="0">
              <a:lnSpc>
                <a:spcPct val="120000"/>
              </a:lnSpc>
              <a:buNone/>
            </a:pPr>
            <a:r>
              <a:rPr lang="en-US" sz="1800" dirty="0">
                <a:solidFill>
                  <a:schemeClr val="tx1"/>
                </a:solidFill>
              </a:rPr>
              <a:t>검색·노출·접근 규칙은 참가자에게 공정한가?</a:t>
            </a:r>
            <a:endParaRPr lang="en-US" sz="1600" dirty="0"/>
          </a:p>
        </p:txBody>
      </p:sp>
      <p:sp>
        <p:nvSpPr>
          <p:cNvPr id="9" name="Text 7"/>
          <p:cNvSpPr txBox="1"/>
          <p:nvPr/>
        </p:nvSpPr>
        <p:spPr>
          <a:xfrm>
            <a:off x="548640" y="5029200"/>
            <a:ext cx="11094415" cy="548640"/>
          </a:xfrm>
          <a:prstGeom prst="rect">
            <a:avLst/>
          </a:prstGeom>
          <a:noFill/>
          <a:ln/>
        </p:spPr>
        <p:txBody>
          <a:bodyPr wrap="square" lIns="0" tIns="0" rIns="0" bIns="0" rtlCol="0" anchor="ctr"/>
          <a:lstStyle/>
          <a:p>
            <a:pPr indent="0" marL="0">
              <a:lnSpc>
                <a:spcPct val="110000"/>
              </a:lnSpc>
              <a:buNone/>
            </a:pPr>
            <a:r>
              <a:rPr lang="en-US" sz="2000" b="1" dirty="0">
                <a:solidFill>
                  <a:schemeClr val="tx1"/>
                </a:solidFill>
              </a:rPr>
              <a:t>편리함의 비용은 누가 내고 있고, 우리에게 다른 선택지는 있을까?</a:t>
            </a:r>
            <a:endParaRPr lang="en-US" sz="2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10515600" cy="1005840"/>
          </a:xfrm>
          <a:prstGeom prst="rect">
            <a:avLst/>
          </a:prstGeom>
          <a:noFill/>
          <a:ln/>
        </p:spPr>
        <p:txBody>
          <a:bodyPr wrap="square" lIns="0" tIns="0" rIns="0" bIns="0" rtlCol="0" anchor="ctr"/>
          <a:lstStyle/>
          <a:p>
            <a:pPr algn="l" indent="0" marL="0">
              <a:buNone/>
            </a:pPr>
            <a:r>
              <a:rPr lang="en-US" sz="4800" b="1" dirty="0">
                <a:solidFill>
                  <a:schemeClr val="bg1"/>
                </a:solidFill>
              </a:rPr>
              <a:t>감사합니다</a:t>
            </a:r>
            <a:endParaRPr lang="en-US" sz="4800" dirty="0"/>
          </a:p>
        </p:txBody>
      </p:sp>
      <p:sp>
        <p:nvSpPr>
          <p:cNvPr id="3" name="Text 1"/>
          <p:cNvSpPr txBox="1"/>
          <p:nvPr/>
        </p:nvSpPr>
        <p:spPr>
          <a:xfrm>
            <a:off x="731520" y="3383280"/>
            <a:ext cx="7315200" cy="457200"/>
          </a:xfrm>
          <a:prstGeom prst="rect">
            <a:avLst/>
          </a:prstGeom>
          <a:noFill/>
          <a:ln/>
        </p:spPr>
        <p:txBody>
          <a:bodyPr wrap="square" lIns="0" tIns="0" rIns="0" bIns="0" rtlCol="0" anchor="t"/>
          <a:lstStyle/>
          <a:p>
            <a:pPr indent="0" marL="0">
              <a:lnSpc>
                <a:spcPct val="110000"/>
              </a:lnSpc>
              <a:buNone/>
            </a:pPr>
            <a:r>
              <a:rPr lang="en-US" sz="1800" dirty="0">
                <a:solidFill>
                  <a:schemeClr val="accent3"/>
                </a:solidFill>
              </a:rPr>
              <a:t>[○조]   [발표자 이름]</a:t>
            </a:r>
            <a:endParaRPr lang="en-US" sz="1800" dirty="0"/>
          </a:p>
        </p:txBody>
      </p:sp>
    </p:spTree>
  </p:cSld>
  <p:clrMapOvr>
    <a:masterClrMapping/>
  </p:clrMapOvr>
</p:sld>
</file>

<file path=ppt/theme/theme1.xml><?xml version="1.0" encoding="utf-8"?>
<a:theme xmlns:a="http://schemas.openxmlformats.org/drawingml/2006/main" name="플랫폼 발표">
  <a:themeElements>
    <a:clrScheme name="플랫폼 발표">
      <a:dk1>
        <a:srgbClr val="222222"/>
      </a:dk1>
      <a:lt1>
        <a:srgbClr val="FFFFFF"/>
      </a:lt1>
      <a:dk2>
        <a:srgbClr val="0B5D53"/>
      </a:dk2>
      <a:lt2>
        <a:srgbClr val="F2F3F3"/>
      </a:lt2>
      <a:accent1>
        <a:srgbClr val="0E7A6D"/>
      </a:accent1>
      <a:accent2>
        <a:srgbClr val="B9472D"/>
      </a:accent2>
      <a:accent3>
        <a:srgbClr val="E3F1EE"/>
      </a:accent3>
      <a:accent4>
        <a:srgbClr val="F8E9E4"/>
      </a:accent4>
      <a:accent5>
        <a:srgbClr val="6B6B6B"/>
      </a:accent5>
      <a:accent6>
        <a:srgbClr val="CFCFCF"/>
      </a:accent6>
      <a:hlink>
        <a:srgbClr val="0563C1"/>
      </a:hlink>
      <a:folHlink>
        <a:srgbClr val="954F72"/>
      </a:folHlink>
    </a:clrScheme>
    <a:fontScheme name="플랫폼 발표">
      <a:majorFont>
        <a:latin typeface="맑은 고딕"/>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플랫폼 독점의 문제</dc:title>
  <dc:subject/>
  <dc:creator/>
  <cp:lastModifiedBy/>
  <cp:revision>1</cp:revision>
  <dcterms:created xsi:type="dcterms:W3CDTF">2026-10-19T04:10:25Z</dcterms:created>
  <dcterms:modified xsi:type="dcterms:W3CDTF">2026-10-19T04:10:25Z</dcterms:modified>
</cp:coreProperties>
</file>