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8a4d2f7-b774-6148-a79b-884c963910de}">
          <p14:sldIdLst>
            <p14:sldId id="256"/>
            <p14:sldId id="257"/>
          </p14:sldIdLst>
        </p14:section>
        <p14:section name="플랫폼 이해" id="{ee4bdb73-8642-660e-c280-64fe7be7f18a}">
          <p14:sldIdLst>
            <p14:sldId id="258"/>
            <p14:sldId id="259"/>
          </p14:sldIdLst>
        </p14:section>
        <p14:section name="배달의 돈 흐름" id="{b8f4720b-7b42-1c84-118a-a87a87abf681}">
          <p14:sldIdLst>
            <p14:sldId id="260"/>
            <p14:sldId id="261"/>
            <p14:sldId id="262"/>
          </p14:sldIdLst>
        </p14:section>
        <p14:section name="독과점 사례" id="{ed89d5c0-9a7d-1e50-dcde-4fc980296d96}">
          <p14:sldIdLst>
            <p14:sldId id="263"/>
            <p14:sldId id="264"/>
            <p14:sldId id="265"/>
            <p14:sldId id="266"/>
          </p14:sldIdLst>
        </p14:section>
        <p14:section name="정리와 대응" id="{ff222c53-8f9e-9cec-51b9-2f29a46eceb4}">
          <p14:sldIdLst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표지는 짧게 넘기기 (다음 장과 합쳐 약 40초).
대괄호 부분 [과목명], [○조], [발표자 이름], [발표일]은 실제 정보로 바꿔서 쓰기.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(표지 포함 약 40초)
질문만 던지고 답은 7번 슬라이드(정산 예시)에서 공개.
'식당이 받는 돈과 실제 이익은 다르다'는 정도만 미리 궁금하게 만들면 충분함.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(약 35초)
정의는 한 번 읽고, 표는 '거래형'과 '혁신형' 차이만 짚기.
- OECD가 소개한 기능 기준의 설명 틀이고, 실제 기능은 겹칠 수 있어서 이 분류만으로 정책 문제를 다 설명하긴 어려움.
- 수익 모델(수수료, 광고, 구독, 결제·물류 대가, 직접 판매 차익)은 유형과 별개로 봐야 함.
- 예시는 기능 설명일 뿐, 특정 회사를 한 유형으로 못 박은 게 아님.
출처: OECD(2019) 4장.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(약 35초)
시장집중, 시장지배력, 지배력 남용은 서로 다른 개념이라는 점만 확실히 전달.
- 이건 발표용으로 정리한 틀이고, 법률상 요건은 사건마다 다름.
- 예: 뒤에 나오는 쿠팡 사건은 '부당한 고객유인행위'로 제재받은 것이라, 시장지배적 지위 남용으로 확정된 사건처럼 말하면 안 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(약 40초)
그림은 돈이 어떤 항목으로 나뉘는지 보여 주는 개념도이고, 모든 돈이 한 회사 매출이 된다는 뜻은 아님.
- 한 주문에 다섯 주체가 다 들어가는 건 아님. 음식 주문이면 식당, 장보기 주문이면 입점 마트가 판매자 자리에 들어감.
- 식당 정산액은 순이익이 아니고, 배민이 공제한 돈도 그대로 순이익이 아님(라이더 보수·결제 처리·운영비가 나감).
- 라이더의 실제 순소득은 공개된 요금만으로는 계산 불가. 2025년 회사 발표의 보수 개편 내용과 지금 실제 수입은 다를 수 있음.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(약 40초)
칸을 다 읽지 말고 '중개(수수료)'와 '직접 판매(매입)'의 차이, 그리고 배달팁이 누구 매출로 잡히는지만 짚기.
- 가게배달 중개이용료 6.8%는 부가세 별도이고, 배송은 점주가 직접 하거나 대행을 씀.
- 배민배달·가게배달·장보기는 배민 공식 안내로 확인한 내용. B마트 직매입 설명(사들여 보관·피킹·배송)은 전자신문 기사(2026.7.) 기준이고, 공식 소개 페이지 본문은 확인하지 못함.
- 배달팁 귀속(배민배달은 배민 매출, 가게배달은 점주 매출)은 배민 부가세 신고자료 안내 기준.
- 배민스토어 안내를 모든 장보기 주문에 확대해서 말하지 않기. B마트의 상품별 계약과 이익률은 확인하지 않았음.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(약 60초)
계산 순서:
- 중개이용료 20,000 × 7.8% = 1,560
- 결제정산수수료 20,000 × 3% = 600
- 업주 배달비 3,400 (서울 예시)
- 부가세 (1,560 + 600 + 3,400) × 10% = 556
- 총 공제 6,116, 식당 정산액 13,884
원 자료의 '업주수익'은 순이익으로 오해할 수 있어서 '정산액'으로 바꿔 씀.
결제수수료 3%는 비교자료의 가정이고, 모든 점주의 현재 요율로 확인한 것은 아님.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(약 60초)
문제 구조 20초 → 누가 영향을 받는지 15초 → 진행 과정 20초 → 다음 사례로 넘어가기 5초.
- 불법행위로 처벌받은 사건처럼 말하지 않기. 결합 전에 하는 예방적 심사였음.
- 당시 점유율을 말할 거면 2019년 거래금액 기준이라고 밝히고, 지금 점유율처럼 말하지 않기.
- 매각 완료는 회사(딜리버리히어로) 발표로 확인한 내용.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(약 60초)
- 공정위가 문제 삼은 건 '부당한 고객유인행위'임. 시장지배적 지위 남용으로 확정된 사건으로 분류하지 않기.
- 처음 발표 때 거론된 잠정 과징금과 최종 의결액(1,628억 2,400만 원)을 섞어서 말하지 않기.
- 시정명령 집행정지에 대한 판단은 본안 판결과 별개.
- 소송 상태는 발표 직전에 한 번 더 확인하기. 확인 못 하면 "확인한 2026년 2분기 공시 기준으로는 소송 진행 중"이라고 범위를 밝히기.
- 법적 쟁점은 공정위 의결, 소송 상태는 회사 공시가 출처라는 차이도 같이 말하기.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(약 60초)
- 마지막 판단일은 2024.9.10., 자료를 확인한 날은 2026.10.1.
- 유럽위원회 과징금은 €2,424,495,000(약 24.2억 유로).
- 일반법원은 일반검색 시장 효과에 관한 부분만 일부 취소했고, 비교쇼핑 판단과 과징금은 유지함.
- '모든 자사우대는 위법'으로 넓혀서 말하지 않기. 다른 구글 사건까지 확정됐다고 일반화하지 않기.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(약 30초)
세 사례를 한 문장씩 되짚기.
제재 발표, 행정 의결, 법원 판단, 확정 여부를 구분해서 말하면 과장 없이 상태를 전달할 수 있음.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(약 35초)
네 줄을 다 읽지 말고 두 줄 정도만 골라서 설명.
- 문제를 '플랫폼이 돈을 번다'로 좁히지 말고, 같은 구조가 편익과 위험을 함께 만든다는 점을 보여 주기.
- '교섭력 차이'는 거래 조건이 바뀔 때 입점업체·라이더가 협상할 힘이 상대적으로 약할 수 있다는 뜻.
- 실제 사례와 연결할 때는 행위와 효과를 따로 확인해야 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(약 35초)
두 대응은 앞의 사례와 배달 정산에 각각 연결됨.
둘 다 효과가 입증된 정책이 아니라 조사를 바탕으로 따져 볼 방향이라서, 기대효과와 한계를 같이 말하기.
시간이 남으면 덧붙일 수 있는 방향: 다른 플랫폼으로 옮기기 어렵게 만드는 제약 점검, 라이더 보수와 계약조건의 설명·협의.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(약 50초)
결론 문장 → 점검 질문 두 개 → 마무리 질문 순서로 말하기.
조에서 결론을 다르게 정하면, 새 사실을 추가하지 말고 문장만 바꿔서 쓰기.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남은 시간(약 20초)은 여유로 두기.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240280"/>
            <a:ext cx="105156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2402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플랫폼 독점의 문제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685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[과목명] 조별 발표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3832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chemeClr val="bg1"/>
                </a:solidFill>
              </a:rPr>
              <a:t>배달앱 2만 원 주문부터 구글 쇼핑 사건까지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44068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[○조]   [발표자 이름]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chemeClr val="accent3"/>
                </a:solidFill>
              </a:rPr>
              <a:t>[발표일]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00200"/>
            <a:ext cx="56692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배달 주문 2만 원,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이 돈은 누구에게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chemeClr val="tx1"/>
                </a:solidFill>
              </a:rPr>
              <a:t>얼마씩 갈까?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3434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accent5"/>
                </a:solidFill>
              </a:rPr>
              <a:t>식당이 받는 돈은 전부 이익일까?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086600" y="1325880"/>
            <a:ext cx="4023360" cy="448056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406640" y="1645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주문 내역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406640" y="2240280"/>
            <a:ext cx="3383280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406640" y="2423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음식 주문금액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098280" y="242316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20,000원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406640" y="3063240"/>
            <a:ext cx="3383280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dash"/>
          </a:ln>
        </p:spPr>
      </p:sp>
      <p:sp>
        <p:nvSpPr>
          <p:cNvPr id="10" name="Text 8"/>
          <p:cNvSpPr txBox="1"/>
          <p:nvPr/>
        </p:nvSpPr>
        <p:spPr>
          <a:xfrm>
            <a:off x="7406640" y="32918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chemeClr val="accent5"/>
                </a:solidFill>
              </a:rPr>
              <a:t>식당 몫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9098280" y="329184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accent1"/>
                </a:solidFill>
              </a:rPr>
              <a:t>?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06640" y="39319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chemeClr val="accent5"/>
                </a:solidFill>
              </a:rPr>
              <a:t>라이더 몫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9098280" y="39319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accent1"/>
                </a:solidFill>
              </a:rPr>
              <a:t>?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7406640" y="4572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chemeClr val="accent5"/>
                </a:solidFill>
              </a:rPr>
              <a:t>배달앱 몫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9098280" y="45720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accent1"/>
                </a:solidFill>
              </a:rPr>
              <a:t>?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406640" y="5212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chemeClr val="accent5"/>
                </a:solidFill>
              </a:rPr>
              <a:t>답은 7번 슬라이드에서</a:t>
            </a:r>
            <a:endParaRPr lang="en-US" sz="12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플랫폼이란?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94415" cy="13716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36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chemeClr val="accent1"/>
                </a:solidFill>
              </a:rPr>
              <a:t>OECD(2019)의 정의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47088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인터넷을 통해, 서로 다르면서도 상호 의존하는 둘 이상의 이용자 집단 사이의 상호작용을 지원하는 서비스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10458"/>
                <a:gridCol w="3210458"/>
                <a:gridCol w="3210458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거래형</a:t>
                      </a:r>
                      <a:endParaRPr lang="en-US" sz="16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혁신형</a:t>
                      </a:r>
                      <a:endParaRPr lang="en-US" sz="16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두 기능이 겹치는 경우</a:t>
                      </a:r>
                      <a:endParaRPr lang="en-US" sz="16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</a:rPr>
                        <a:t>하는 일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참가자끼리 찾고 거래하도록 연결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보완 제품을 만들 기술 기반 제공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거래 연결과 개발 기반이 함께 작동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</a:rPr>
                        <a:t>예시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배달 주문 중개, 온라인 장터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운영체제와 개발자 생태계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앱 개발 생태계 + 앱 유통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</a:rPr>
                        <a:t>수익원</a:t>
                      </a:r>
                      <a:endParaRPr lang="en-US" sz="14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거래 수수료, 광고, 구독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라이선스, 이용료, 유통 수수료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한 회사 안에 여러 수익원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349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5"/>
                </a:solidFill>
              </a:rPr>
              <a:t>※ 기능을 기준으로 나눈 설명 틀이라, 실제 회사는 여러 유형에 걸쳐 있는 경우가 많음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3367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accent5"/>
                </a:solidFill>
              </a:rPr>
              <a:t>출처: OECD, An Introduction to Online Platforms and Their Role in the Digital Transformation (2019)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독점 문제를 보는 세 단계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3776472" cy="777240"/>
          </a:xfrm>
          <a:prstGeom prst="homePlate">
            <a:avLst/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  </a:t>
            </a:r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시장구조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251460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독점, 과점, 집중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85292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어떤 시장에서 몇 개 사업자에게 거래가 몰리는가?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93192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2"/>
                </a:solidFill>
              </a:rPr>
              <a:t>→ 점유율은 시장 범위·지역·연도·산식까지 같이 봐야 함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206240" y="1463040"/>
            <a:ext cx="3776472" cy="777240"/>
          </a:xfrm>
          <a:prstGeom prst="chevron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2  </a:t>
            </a:r>
            <a:pPr algn="ctr"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시장지배력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251460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대안, 교섭력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389120" y="285292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거래 상대가 다른 곳으로 옮기기 어렵고, 조건을 좌우할 힘이 있는가?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393192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2"/>
                </a:solidFill>
              </a:rPr>
              <a:t>→ 덩치(규모)만으로는 설명이 안 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863840" y="1463040"/>
            <a:ext cx="3776472" cy="777240"/>
          </a:xfrm>
          <a:prstGeom prst="chevron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3  </a:t>
            </a:r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문제 행위와 법적 판단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251460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행위, 영향, 법적 근거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2852928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그 힘이나 거래 구조를 이용해 경쟁과 선택을 제한했는가?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3931920"/>
            <a:ext cx="3429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2"/>
                </a:solidFill>
              </a:rPr>
              <a:t>→ 제재·불복·확정 여부를 사건마다 따로 확인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983480"/>
            <a:ext cx="11094415" cy="8229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983480"/>
            <a:ext cx="104543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플랫폼이 크다는 사실만으로 불법 독점이라고 볼 수는 없음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배달 주문 한 건에 얽힌 사람들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286000" cy="8686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chemeClr val="tx1"/>
                </a:solidFill>
              </a:rPr>
              <a:t>소비자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709160" y="1600200"/>
            <a:ext cx="2743200" cy="8686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709160" y="16002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chemeClr val="bg1"/>
                </a:solidFill>
              </a:rPr>
              <a:t>배달앱</a:t>
            </a:r>
            <a:endParaRPr lang="en-US" sz="16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bg1"/>
                </a:solidFill>
              </a:rPr>
              <a:t>결제·정산, 배달 운영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354312" y="1600200"/>
            <a:ext cx="2286000" cy="8686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354312" y="1600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chemeClr val="tx1"/>
                </a:solidFill>
              </a:rPr>
              <a:t>식당 / 입점 마트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09160" y="3246120"/>
            <a:ext cx="2743200" cy="7315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9160" y="32461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chemeClr val="tx1"/>
                </a:solidFill>
              </a:rPr>
              <a:t>라이더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880360" y="2034540"/>
            <a:ext cx="1783080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880360" y="15727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주문·결제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498080" y="2034540"/>
            <a:ext cx="1810512" cy="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7498080" y="1572768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공제 후 정산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80760" y="2514600"/>
            <a:ext cx="0" cy="68580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6263640" y="2542032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조건별 배달 보수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(소비자가 낸 배달팁과 별개)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354312" y="25603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음식 주문은 식당,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장보기 주문은 입점 마트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tx1"/>
                </a:solidFill>
              </a:rPr>
              <a:t>각자 따로 부담하는 비용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4754880"/>
            <a:ext cx="2636444" cy="1188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4864608"/>
            <a:ext cx="22706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소비자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음식값 외 배달팁, 구독료(있을 때)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367964" y="4754880"/>
            <a:ext cx="2636444" cy="1188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550844" y="4864608"/>
            <a:ext cx="22706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식당 · 입점 마트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식재료, 포장, 인건비, 임차료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87288" y="4754880"/>
            <a:ext cx="2636444" cy="1188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70168" y="4864608"/>
            <a:ext cx="22706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라이더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이동수단, 연료, 보험, 정비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9006611" y="4754880"/>
            <a:ext cx="2636444" cy="1188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189491" y="4864608"/>
            <a:ext cx="22706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배달앱 · 운영 주체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chemeClr val="tx1"/>
                </a:solidFill>
              </a:rPr>
              <a:t>라이더 보수, 결제 처리, 운영비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3367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accent5"/>
                </a:solidFill>
              </a:rPr>
              <a:t>출처: 배민 공식 안내(정산, 배민스토어), 우아한청년들 발표(2025.1.24.), 배민커넥트 안내  |  계약·지급 주체는 서비스마다 다름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같은 배달앱이라도 방식마다 돈 흐름이 다름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395728"/>
                <a:gridCol w="2395728"/>
                <a:gridCol w="2395728"/>
                <a:gridCol w="2398471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중개: 연결해 주고 수수료를 받음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직접 판매: 사서 팖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배민배달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가게배달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입점형 장보기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B마트</a:t>
                      </a:r>
                      <a:endParaRPr lang="en-US" sz="17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</a:rPr>
                        <a:t>구조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주문 중개 + 배달 운영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식당이 직접 배달하거나 대행 이용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배민스토어에서 마트 상품 판매 중개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상품을 사들여 보관·배송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</a:rPr>
                        <a:t>돈을 버는 방식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중개이용료 + 업주 배달비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중개이용료 6.8%</a:t>
                      </a:r>
                      <a:endParaRPr lang="en-US" sz="1500" dirty="0"/>
                    </a:p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(배송비는 식당 부담)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상품·브랜드별 별도 요율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판매가 − 매입·물류·운영비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</a:rPr>
                        <a:t>주의할 점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고객 배달팁은 배민 매출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고객 배달팁은 점주 매출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음식배달 요율을 그대로 적용 못 함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수수료표로는 계산 안 됨</a:t>
                      </a:r>
                      <a:endParaRPr lang="en-US" sz="15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937760"/>
            <a:ext cx="11094415" cy="77724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68680" y="493776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업주 배달비, 고객 배달팁, 라이더 보수는 서로 다른 항목이라 하나로 합쳐서 계산하면 안 됨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367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accent5"/>
                </a:solidFill>
              </a:rPr>
              <a:t>출처: 배민 공식 안내(배민배달, 가게배달, 부가세 신고자료, 배민스토어 정산), B마트는 전자신문(2026.7.) 기사 기준  |  요율은 부가세 별도, 2026.10.1. 조회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서울에서 2만 원 주문하면, 식당 정산액은 13,884원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029200" cy="4617720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chemeClr val="tx1"/>
                </a:solidFill>
              </a:rPr>
              <a:t>정산 예시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16459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서울, 음식값 20,000원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148840"/>
            <a:ext cx="4389120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868680" y="22860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음식 주문금액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28600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20,000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1576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중개이용료 (7.8%)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71576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accent2"/>
                </a:solidFill>
              </a:rPr>
              <a:t>−1,560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14553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결제정산수수료 (3%)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3145536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accent2"/>
                </a:solidFill>
              </a:rPr>
              <a:t>−600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57530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업주 배달비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566160" y="357530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accent2"/>
                </a:solidFill>
              </a:rPr>
              <a:t>−3,400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400507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부가세 (10%)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4005072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accent2"/>
                </a:solidFill>
              </a:rPr>
              <a:t>−556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68680" y="4526280"/>
            <a:ext cx="4389120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dash"/>
          </a:ln>
        </p:spPr>
      </p:sp>
      <p:sp>
        <p:nvSpPr>
          <p:cNvPr id="18" name="Text 16"/>
          <p:cNvSpPr txBox="1"/>
          <p:nvPr/>
        </p:nvSpPr>
        <p:spPr>
          <a:xfrm>
            <a:off x="868680" y="466344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accent5"/>
                </a:solidFill>
              </a:rPr>
              <a:t>총 공제 (30.58%)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466344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accent2"/>
                </a:solidFill>
              </a:rPr>
              <a:t>−6,116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51663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chemeClr val="tx1"/>
                </a:solidFill>
              </a:rPr>
              <a:t>식당 정산액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2926080" y="516636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2400" b="1" dirty="0">
                <a:solidFill>
                  <a:schemeClr val="accent1"/>
                </a:solidFill>
              </a:rPr>
              <a:t>13,884원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1463040"/>
            <a:ext cx="5470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chemeClr val="tx1"/>
                </a:solidFill>
              </a:rPr>
              <a:t>13,884원은 순이익이 아님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1892808"/>
            <a:ext cx="5470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식재료·포장·인건비·임차료는 정산 후에도 식당 부담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172200" y="2404872"/>
            <a:ext cx="5470855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2560320"/>
            <a:ext cx="5470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chemeClr val="tx1"/>
                </a:solidFill>
              </a:rPr>
              <a:t>공제된 6,116원이 전부 배민 이익도 아님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990088"/>
            <a:ext cx="5470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부가세 포함, 공개자료로는 플랫폼·라이더 몫 구분 불가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172200" y="3502152"/>
            <a:ext cx="5470855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72200" y="3657600"/>
            <a:ext cx="54708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chemeClr val="tx1"/>
                </a:solidFill>
              </a:rPr>
              <a:t>‘수수료 30%’와는 다른 얘기</a:t>
            </a:r>
            <a:endParaRPr lang="en-US" sz="190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4087368"/>
            <a:ext cx="5470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중개이용료·결제수수료·배달비·부가세를 다 합친 비율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4800600"/>
            <a:ext cx="54708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chemeClr val="accent5"/>
                </a:solidFill>
              </a:rPr>
              <a:t>부가세 = (중개이용료 + 결제정산수수료 + 업주 배달비) × 10%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chemeClr val="accent5"/>
                </a:solidFill>
              </a:rPr>
              <a:t>결제정산수수료 3%는 자료의 가정, 광고비·점주 부담 쿠폰은 0원으로 계산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chemeClr val="accent5"/>
                </a:solidFill>
              </a:rPr>
              <a:t>배달팁, 구독료, 라이더 보수는 계산에 넣지 않음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3367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accent5"/>
                </a:solidFill>
              </a:rPr>
              <a:t>출처: 농림축산식품부 공공배달앱 비교자료(2025.4.6.) 붙임 2의 서울·2만 원 예시를 다시 계산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사례 1. 배민-요기요 기업결합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쟁점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요기요를 운영하던 딜리버리히어로가 배민 운영사 우아한형제들을 인수하려 함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주요 배달앱 두 곳이 한 기업집단에 묶이면 수수료·할인·서비스 경쟁이 약해질 수 있다는 우려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118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영향을 받는 쪽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5020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입점 음식점, 주문하는 소비자, 배달앱 시장의 경쟁 사업자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41732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진행 과정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45936" y="1984248"/>
            <a:ext cx="0" cy="123444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3640" y="1901952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9400" y="1837944"/>
            <a:ext cx="5013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2020. 12. 28.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148840"/>
            <a:ext cx="5013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공정위, 요기요 매각 등을 조건으로 기업결합 승인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63640" y="3136392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29400" y="3072384"/>
            <a:ext cx="5013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2021. 10. 29.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383280"/>
            <a:ext cx="5013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딜리버리히어로, 요기요 운영사(DH Korea) 지분 100% 매각 완료 발표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983480"/>
            <a:ext cx="11094415" cy="86868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98348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</a:rPr>
              <a:t>정리   </a:t>
            </a:r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합병 단계에서 경쟁이 줄어드는 것을 미리 막은 사례 (이미 벌어진 독점 남용을 처벌한 건 아님)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3367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accent5"/>
                </a:solidFill>
              </a:rPr>
              <a:t>출처: 공정거래위원회 보도자료(2020.12.28.), Delivery Hero 발표(2021.10.29.)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사례 2. 쿠팡 검색순위·임직원 리뷰 사건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쟁점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쿠팡이 직접 사서 파는 상품·자체브랜드(PB) 상품과 입점 판매자 상품이 같은 검색 결과에서 경쟁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공정위 판단: 검색순위 운영과 임직원 리뷰로 자기 상품을 우대해 소비자를 유인함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118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영향을 받는 쪽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5020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입점 판매자의 노출 기회, 소비자의 비교·선택, 검색 결과에 대한 신뢰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41732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진행 과정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45936" y="1984248"/>
            <a:ext cx="0" cy="1234440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3640" y="1901952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9400" y="1837944"/>
            <a:ext cx="5013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2024. 8. 5.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148840"/>
            <a:ext cx="5013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공정위 의결(제2024-284호): 부당한 고객유인행위로 시정명령, 과징금 1,628억 2,400만 원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63640" y="3136392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29400" y="3072384"/>
            <a:ext cx="5013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2026년 2분기 공시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383280"/>
            <a:ext cx="501365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쿠팡 SEC 보고서(Form 10-Q): 행정소송 진행 중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2026년 9월 심리 예정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4983480"/>
            <a:ext cx="11094415" cy="86868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98348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</a:rPr>
              <a:t>정리   </a:t>
            </a:r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공정위는 제재했고 쿠팡은 불복해 소송 중 (2026년 2분기 공시 기준, 이후 결과는 확인 못 함)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3367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accent5"/>
                </a:solidFill>
              </a:rPr>
              <a:t>출처: 공정위 의결 제2024-284호, Coupang 2026년 2분기 Form 10-Q(SEC 공시)  |  2026.10.1. 확인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사례 3. 구글 쇼핑 사건 (EU)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쟁점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5120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구글이 검색 결과에서 자사 비교쇼핑 서비스는 유리하게 노출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경쟁 비교쇼핑 서비스의 결과는 불리하게 취급</a:t>
            </a:r>
            <a:endParaRPr lang="en-US" sz="16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대상 지역: 유럽경제지역 13개국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6118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영향을 받는 쪽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50208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경쟁 비교쇼핑 서비스로 가는 검색 유입과 거래 기회, 이용자의 선택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41732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진행 과정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345936" y="1984248"/>
            <a:ext cx="0" cy="2048256"/>
          </a:xfrm>
          <a:prstGeom prst="line">
            <a:avLst/>
          </a:prstGeom>
          <a:noFill/>
          <a:ln w="19050">
            <a:solidFill>
              <a:schemeClr val="accent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3640" y="1901952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9400" y="1837944"/>
            <a:ext cx="5013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2017. 6. 27.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148840"/>
            <a:ext cx="501365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유럽위원회 결정, 과징금 약 24.2억 유로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63640" y="2926080"/>
            <a:ext cx="164592" cy="164592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29400" y="2862072"/>
            <a:ext cx="5013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2021. 11. 10.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172968"/>
            <a:ext cx="501365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EU 일반법원, 비교쇼핑 관련 판단과 과징금 유지 (일반검색 시장 효과 부분은 일부 취소)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63640" y="3950208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629400" y="3886200"/>
            <a:ext cx="5013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2024. 9. 10.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4197096"/>
            <a:ext cx="501365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EU 사법재판소(C-48/22 P), 구글·알파벳 항소 기각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983480"/>
            <a:ext cx="11094415" cy="86868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68680" y="498348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chemeClr val="accent1"/>
                </a:solidFill>
              </a:rPr>
              <a:t>정리   </a:t>
            </a:r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이 사건의 자사우대는 문제로 인정됐지만, 모든 자사우대가 자동으로 위법이라는 뜻은 아님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3367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accent5"/>
                </a:solidFill>
              </a:rPr>
              <a:t>출처: EU 사법재판소 보도자료 No 135/24(2024.9.10.)  |  판결문 전문이 아닌 공식 보도자료 기준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세 사례 비교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80560"/>
                <a:gridCol w="451073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사례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무엇이 문제였나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어디까지 진행됐나</a:t>
                      </a:r>
                      <a:endParaRPr lang="en-US" sz="15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배민-요기요</a:t>
                      </a:r>
                      <a:endParaRPr lang="en-US" sz="17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경쟁자가 줄어드는 기업결합</a:t>
                      </a:r>
                      <a:endParaRPr lang="en-US" sz="16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조건부 승인 → 요기요 매각 완료</a:t>
                      </a:r>
                      <a:endParaRPr lang="en-US" sz="16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쿠팡</a:t>
                      </a:r>
                      <a:endParaRPr lang="en-US" sz="17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운영자 상품과 입점 상품 사이의 이해충돌</a:t>
                      </a:r>
                      <a:endParaRPr lang="en-US" sz="16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공정위 제재 → 불복 소송 중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(2026년 2분기 공시 기준)</a:t>
                      </a:r>
                      <a:endParaRPr lang="en-US" sz="16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구글 쇼핑</a:t>
                      </a:r>
                      <a:endParaRPr lang="en-US" sz="17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지배적 검색 서비스의 자사우대</a:t>
                      </a:r>
                      <a:endParaRPr lang="en-US" sz="16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EU 사법재판소 항소 기각 (2024)</a:t>
                      </a:r>
                      <a:endParaRPr lang="en-US" sz="1600" dirty="0"/>
                    </a:p>
                  </a:txBody>
                  <a:tcPr marL="164592" marR="164592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617720"/>
            <a:ext cx="11094415" cy="10972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868680" y="4617720"/>
            <a:ext cx="10454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세 사례는 법적 성격이 서로 다름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하나의 ‘독점’으로 묶기보다, 시장 구조 · 운영 행위 · 경쟁법 대응을 나눠서 보려고 고른 사례들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33679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chemeClr val="accent5"/>
                </a:solidFill>
              </a:rPr>
              <a:t>출처: 사례별 출처는 8~10번 슬라이드 하단 참고  |  2026.10.1. 확인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편리함과 문제는 같은 구조에서 나옴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3291840"/>
                <a:gridCol w="3611880"/>
                <a:gridCol w="1676095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플랫폼의 구조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참가자에게 주는 편익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거래가 몰릴 때 생길 수 있는 문제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관련 사례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네트워크 효과</a:t>
                      </a:r>
                      <a:endParaRPr lang="en-US" sz="17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선택지가 늘고 서로 만나기 쉬워짐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후발 사업자가 양쪽 이용자를 모으기 어려움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배민-요기요</a:t>
                      </a:r>
                      <a:endParaRPr lang="en-US" sz="13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검색·추천·리뷰 운영</a:t>
                      </a:r>
                      <a:endParaRPr lang="en-US" sz="17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탐색 비용과 정보 비대칭이 줄어듦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노출 기준을 자사에 유리하게 바꿀 유인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쿠팡, 구글</a:t>
                      </a:r>
                      <a:endParaRPr lang="en-US" sz="13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주문·결제·물류 통합</a:t>
                      </a:r>
                      <a:endParaRPr lang="en-US" sz="17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거래가 편해지고 배송이 효율적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특정 서비스 의존, 교섭력 차이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배달 정산 구조</a:t>
                      </a:r>
                      <a:endParaRPr lang="en-US" sz="13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중개 + 직접 판매</a:t>
                      </a:r>
                      <a:endParaRPr lang="en-US" sz="17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공급·품질·배송을 직접 관리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중개자이면서 판매자라서 생기는 이해충돌</a:t>
                      </a:r>
                      <a:endParaRPr lang="en-US" sz="15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5"/>
                          </a:solidFill>
                        </a:rPr>
                        <a:t>쿠팡</a:t>
                      </a:r>
                      <a:endParaRPr lang="en-US" sz="1300" dirty="0"/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1206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5"/>
                </a:solidFill>
              </a:rPr>
              <a:t>※ 일반적으로 이렇게 작동할 수 있다는 정리이며, 특정 기업이 전부 해당한다는 뜻은 아님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어떻게 대응할 수 있을까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87188" cy="43891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4655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대응 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4655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chemeClr val="tx1"/>
                </a:solidFill>
              </a:rPr>
              <a:t>기업결합 심사와 매각 조건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60320"/>
            <a:ext cx="4655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관련: 사례 1 배민-요기요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54680"/>
            <a:ext cx="4655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기대효과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474720"/>
            <a:ext cx="46556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경쟁자와 거래 상대의 선택지를 지킬 수 있음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343400"/>
            <a:ext cx="4655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한계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4663440"/>
            <a:ext cx="46556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효율성이나 서비스 개선 효과와 함께 따져야 함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55868" y="1417320"/>
            <a:ext cx="5387188" cy="43891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21628" y="1737360"/>
            <a:ext cx="4655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대응 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621628" y="2057400"/>
            <a:ext cx="46556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chemeClr val="tx1"/>
                </a:solidFill>
              </a:rPr>
              <a:t>검색·노출 규칙과 거래조건의 투명성</a:t>
            </a:r>
            <a:endParaRPr lang="en-US" sz="2100" dirty="0"/>
          </a:p>
        </p:txBody>
      </p:sp>
      <p:sp>
        <p:nvSpPr>
          <p:cNvPr id="14" name="Text 12"/>
          <p:cNvSpPr txBox="1"/>
          <p:nvPr/>
        </p:nvSpPr>
        <p:spPr>
          <a:xfrm>
            <a:off x="6621628" y="2560320"/>
            <a:ext cx="4655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관련: 사례 2·3, 배달 정산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621628" y="3154680"/>
            <a:ext cx="4655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accent1"/>
                </a:solidFill>
              </a:rPr>
              <a:t>기대효과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621628" y="3474720"/>
            <a:ext cx="46556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노출 이유와 실제 부담·할인 주체를 비교할 수 있음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621628" y="4343400"/>
            <a:ext cx="46556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accent2"/>
                </a:solidFill>
              </a:rPr>
              <a:t>한계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621628" y="4663440"/>
            <a:ext cx="46556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chemeClr val="tx1"/>
                </a:solidFill>
              </a:rPr>
              <a:t>영업비밀, 조작 방지와 균형이 필요하고, 공개만으로 부담이 줄어든다는 보장은 없음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84048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결론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chemeClr val="accent1"/>
                </a:solidFill>
              </a:rPr>
              <a:t>플랫폼의 규모만 보고 위법이라고 단정하지 말고,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chemeClr val="accent1"/>
                </a:solidFill>
              </a:rPr>
              <a:t>경쟁을 제한하는 구조와 행위를 나눠서 살펴봐야 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accent5"/>
                </a:solidFill>
              </a:rPr>
              <a:t>이렇게 물어볼 수 있음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337560"/>
            <a:ext cx="5387188" cy="12344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3547872"/>
            <a:ext cx="47471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선택권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참가자가 거래 조건을 이해하고, 다른 선택지를 가질 수 있는가?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55868" y="3337560"/>
            <a:ext cx="5387188" cy="12344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75908" y="3547872"/>
            <a:ext cx="47471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공정한 규칙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검색·노출·접근 규칙은 참가자에게 공정한가?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0292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tx1"/>
                </a:solidFill>
              </a:rPr>
              <a:t>편리함의 비용은 누가 내고 있고, 우리에게 다른 선택지는 있을까?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2402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감사합니다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chemeClr val="accent3"/>
                </a:solidFill>
              </a:rPr>
              <a:t>[○조]   [발표자 이름]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latform Talk">
  <a:themeElements>
    <a:clrScheme name="Platform Talk">
      <a:dk1>
        <a:srgbClr val="222222"/>
      </a:dk1>
      <a:lt1>
        <a:srgbClr val="FFFFFF"/>
      </a:lt1>
      <a:dk2>
        <a:srgbClr val="0B5D53"/>
      </a:dk2>
      <a:lt2>
        <a:srgbClr val="F2F3F3"/>
      </a:lt2>
      <a:accent1>
        <a:srgbClr val="0E7A6D"/>
      </a:accent1>
      <a:accent2>
        <a:srgbClr val="B9472D"/>
      </a:accent2>
      <a:accent3>
        <a:srgbClr val="E3F1EE"/>
      </a:accent3>
      <a:accent4>
        <a:srgbClr val="F8E9E4"/>
      </a:accent4>
      <a:accent5>
        <a:srgbClr val="6B6B6B"/>
      </a:accent5>
      <a:accent6>
        <a:srgbClr val="CFCFCF"/>
      </a:accent6>
      <a:hlink>
        <a:srgbClr val="0563C1"/>
      </a:hlink>
      <a:folHlink>
        <a:srgbClr val="954F72"/>
      </a:folHlink>
    </a:clrScheme>
    <a:fontScheme name="Platform Talk">
      <a:majorFont>
        <a:latin typeface="맑은 고딕"/>
        <a:ea typeface="맑은 고딕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맑은 고딕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플랫폼 독점의 문제</dc:title>
  <dc:subject/>
  <dc:creator/>
  <cp:lastModifiedBy/>
  <cp:revision>1</cp:revision>
  <dcterms:created xsi:type="dcterms:W3CDTF">2026-10-19T03:47:22Z</dcterms:created>
  <dcterms:modified xsi:type="dcterms:W3CDTF">2026-10-19T03:47:22Z</dcterms:modified>
</cp:coreProperties>
</file>